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</p:sldIdLst>
  <p:sldSz cx="12192000" cy="6858000"/>
  <p:notesSz cx="6858000" cy="9144000"/>
  <p:custDataLst>
    <p:tags r:id="rId3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gs" Target="tags/tag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 10"/>
          <p:cNvSpPr/>
          <p:nvPr/>
        </p:nvSpPr>
        <p:spPr>
          <a:xfrm>
            <a:off x="0" y="0"/>
            <a:ext cx="4658867" cy="6857998"/>
          </a:xfrm>
          <a:prstGeom prst="rect">
            <a:avLst/>
          </a:prstGeom>
          <a:solidFill>
            <a:srgbClr val="49989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" name="textbox 12"/>
          <p:cNvSpPr/>
          <p:nvPr/>
        </p:nvSpPr>
        <p:spPr>
          <a:xfrm>
            <a:off x="6258204" y="1125448"/>
            <a:ext cx="3404234" cy="29597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0640" algn="l" rtl="0" eaLnBrk="0">
              <a:lnSpc>
                <a:spcPct val="99000"/>
              </a:lnSpc>
            </a:pPr>
            <a:r>
              <a:rPr sz="3600" kern="0" spc="-2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</a:t>
            </a:r>
            <a:endParaRPr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3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  <a:spcBef>
                <a:spcPts val="540"/>
              </a:spcBef>
            </a:pP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sz="1800" kern="0" spc="1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1800" kern="0" spc="2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sz="1800" kern="0" spc="2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</a:t>
            </a:r>
            <a:r>
              <a:rPr sz="1800" kern="0" spc="2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 背 景 与</a:t>
            </a:r>
            <a:r>
              <a:rPr sz="18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 题 需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189000"/>
              </a:lnSpc>
              <a:spcBef>
                <a:spcPts val="485"/>
              </a:spcBef>
            </a:pPr>
            <a:r>
              <a:rPr sz="1800" kern="0" spc="-3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 2   /   影 响</a:t>
            </a:r>
            <a:r>
              <a:rPr sz="1800" kern="0" spc="18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3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 素 拆 解 思 路</a:t>
            </a:r>
            <a:r>
              <a:rPr sz="1800" kern="0" spc="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1800" kern="0" spc="-2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 3   /   可 视 化 </a:t>
            </a:r>
            <a:r>
              <a:rPr sz="1800" kern="0" spc="-3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 析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4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  <a:spcBef>
                <a:spcPts val="5"/>
              </a:spcBef>
            </a:pPr>
            <a:r>
              <a:rPr sz="1800" kern="0" spc="-2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0 4</a:t>
            </a:r>
            <a:r>
              <a:rPr sz="1800" kern="0" spc="24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800" kern="0" spc="-2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sz="1800" kern="0" spc="23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800" kern="0" spc="-2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 析 结 论 与 改 进 建 议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11946153" y="6617461"/>
            <a:ext cx="94614" cy="1600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3000"/>
              </a:lnSpc>
            </a:pPr>
            <a:r>
              <a:rPr sz="1200" kern="0" spc="-20" dirty="0">
                <a:solidFill>
                  <a:srgbClr val="89898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6"/>
          <p:cNvSpPr/>
          <p:nvPr/>
        </p:nvSpPr>
        <p:spPr>
          <a:xfrm>
            <a:off x="5448604" y="3297097"/>
            <a:ext cx="5220970" cy="11137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1590" algn="l" rtl="0" eaLnBrk="0">
              <a:lnSpc>
                <a:spcPct val="97000"/>
              </a:lnSpc>
            </a:pP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Demo数据库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98000"/>
              </a:lnSpc>
              <a:spcBef>
                <a:spcPts val="1160"/>
              </a:spcBef>
            </a:pP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2016/01/01-2017/12/31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2000"/>
              </a:lnSpc>
            </a:pP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2017年5月CDLG和WDGC两家门店的销售相关数据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8"/>
          <p:cNvSpPr/>
          <p:nvPr/>
        </p:nvSpPr>
        <p:spPr>
          <a:xfrm>
            <a:off x="2693822" y="3297097"/>
            <a:ext cx="2038350" cy="11137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080"/>
              </a:lnSpc>
            </a:pPr>
            <a:r>
              <a:rPr sz="1700" kern="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数据库来源：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97000"/>
              </a:lnSpc>
              <a:spcBef>
                <a:spcPts val="1155"/>
              </a:spcBef>
            </a:pPr>
            <a:r>
              <a:rPr sz="1800" kern="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数据源时间范围：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6000"/>
              </a:lnSpc>
            </a:pP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  <a:spcBef>
                <a:spcPts val="0"/>
              </a:spcBef>
            </a:pPr>
            <a:r>
              <a:rPr sz="1800" kern="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数据抽样监测范围：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20"/>
          <p:cNvSpPr/>
          <p:nvPr/>
        </p:nvSpPr>
        <p:spPr>
          <a:xfrm>
            <a:off x="416240" y="1191254"/>
            <a:ext cx="7629525" cy="2324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1400" kern="0" spc="-1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监测部门在一次销售数据抽样调研中，随机调取了2017</a:t>
            </a:r>
            <a:r>
              <a:rPr sz="1400" kern="0" spc="-2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年5月的门店销售数据并发现了一些问题。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2"/>
          <p:cNvSpPr/>
          <p:nvPr/>
        </p:nvSpPr>
        <p:spPr>
          <a:xfrm>
            <a:off x="424078" y="318033"/>
            <a:ext cx="3641725" cy="3797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2400" b="1" kern="0" spc="23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r>
              <a:rPr sz="2400" b="1" kern="0" spc="65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kern="0" spc="23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项目背景及问题需求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91668" y="766571"/>
            <a:ext cx="11800331" cy="71628"/>
          </a:xfrm>
          <a:prstGeom prst="rect">
            <a:avLst/>
          </a:prstGeom>
        </p:spPr>
      </p:pic>
      <p:sp>
        <p:nvSpPr>
          <p:cNvPr id="26" name="textbox 26"/>
          <p:cNvSpPr/>
          <p:nvPr/>
        </p:nvSpPr>
        <p:spPr>
          <a:xfrm>
            <a:off x="11945239" y="6617461"/>
            <a:ext cx="95250" cy="1600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3000"/>
              </a:lnSpc>
            </a:pPr>
            <a:r>
              <a:rPr sz="1200" kern="0" spc="-20" dirty="0">
                <a:solidFill>
                  <a:srgbClr val="89898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8" name="path 28"/>
          <p:cNvSpPr/>
          <p:nvPr/>
        </p:nvSpPr>
        <p:spPr>
          <a:xfrm>
            <a:off x="2378963" y="3255264"/>
            <a:ext cx="6096" cy="1058036"/>
          </a:xfrm>
          <a:custGeom>
            <a:avLst/>
            <a:gdLst/>
            <a:ahLst/>
            <a:cxnLst/>
            <a:rect l="0" t="0" r="0" b="0"/>
            <a:pathLst>
              <a:path w="9" h="1666">
                <a:moveTo>
                  <a:pt x="4" y="1666"/>
                </a:moveTo>
                <a:lnTo>
                  <a:pt x="4" y="0"/>
                </a:lnTo>
              </a:path>
            </a:pathLst>
          </a:custGeom>
          <a:noFill/>
          <a:ln w="6096" cap="flat">
            <a:solidFill>
              <a:srgbClr val="499894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82039" y="922020"/>
            <a:ext cx="10027919" cy="4014215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 rot="21600000">
            <a:off x="6585204" y="4945379"/>
            <a:ext cx="3933443" cy="1780032"/>
            <a:chOff x="0" y="0"/>
            <a:chExt cx="3933443" cy="1780032"/>
          </a:xfrm>
        </p:grpSpPr>
        <p:grpSp>
          <p:nvGrpSpPr>
            <p:cNvPr id="4" name="group 4"/>
            <p:cNvGrpSpPr/>
            <p:nvPr/>
          </p:nvGrpSpPr>
          <p:grpSpPr>
            <a:xfrm rot="21600000">
              <a:off x="0" y="0"/>
              <a:ext cx="3933443" cy="1780032"/>
              <a:chOff x="0" y="0"/>
              <a:chExt cx="3933443" cy="1780032"/>
            </a:xfrm>
          </p:grpSpPr>
          <p:sp>
            <p:nvSpPr>
              <p:cNvPr id="32" name="path 32"/>
              <p:cNvSpPr/>
              <p:nvPr/>
            </p:nvSpPr>
            <p:spPr>
              <a:xfrm>
                <a:off x="0" y="0"/>
                <a:ext cx="3933443" cy="585216"/>
              </a:xfrm>
              <a:custGeom>
                <a:avLst/>
                <a:gdLst/>
                <a:ahLst/>
                <a:cxnLst/>
                <a:rect l="0" t="0" r="0" b="0"/>
                <a:pathLst>
                  <a:path w="6194" h="921">
                    <a:moveTo>
                      <a:pt x="0" y="921"/>
                    </a:moveTo>
                    <a:lnTo>
                      <a:pt x="6194" y="921"/>
                    </a:lnTo>
                    <a:lnTo>
                      <a:pt x="6194" y="0"/>
                    </a:lnTo>
                    <a:lnTo>
                      <a:pt x="0" y="0"/>
                    </a:lnTo>
                    <a:lnTo>
                      <a:pt x="0" y="921"/>
                    </a:lnTo>
                    <a:close/>
                  </a:path>
                </a:pathLst>
              </a:custGeom>
              <a:solidFill>
                <a:srgbClr val="499894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path 34"/>
              <p:cNvSpPr/>
              <p:nvPr/>
            </p:nvSpPr>
            <p:spPr>
              <a:xfrm>
                <a:off x="0" y="585216"/>
                <a:ext cx="3933443" cy="1194816"/>
              </a:xfrm>
              <a:custGeom>
                <a:avLst/>
                <a:gdLst/>
                <a:ahLst/>
                <a:cxnLst/>
                <a:rect l="0" t="0" r="0" b="0"/>
                <a:pathLst>
                  <a:path w="6194" h="1881">
                    <a:moveTo>
                      <a:pt x="0" y="1881"/>
                    </a:moveTo>
                    <a:lnTo>
                      <a:pt x="6194" y="1881"/>
                    </a:lnTo>
                    <a:lnTo>
                      <a:pt x="6194" y="0"/>
                    </a:lnTo>
                    <a:lnTo>
                      <a:pt x="0" y="0"/>
                    </a:lnTo>
                    <a:lnTo>
                      <a:pt x="0" y="1881"/>
                    </a:lnTo>
                    <a:close/>
                  </a:path>
                </a:pathLst>
              </a:custGeom>
              <a:solidFill>
                <a:srgbClr val="F2F2F2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6" name="textbox 36"/>
            <p:cNvSpPr/>
            <p:nvPr/>
          </p:nvSpPr>
          <p:spPr>
            <a:xfrm>
              <a:off x="-12700" y="-12700"/>
              <a:ext cx="3959225" cy="181737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7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951865" algn="l" rtl="0" eaLnBrk="0">
                <a:lnSpc>
                  <a:spcPts val="2470"/>
                </a:lnSpc>
              </a:pPr>
              <a:r>
                <a:rPr sz="2000" kern="0" spc="-40" dirty="0">
                  <a:solidFill>
                    <a:srgbClr val="FFFFFF">
                      <a:alpha val="100000"/>
                    </a:srgbClr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C D</a:t>
              </a:r>
              <a:r>
                <a:rPr sz="2000" kern="0" spc="-10" dirty="0">
                  <a:solidFill>
                    <a:srgbClr val="FFFFFF">
                      <a:alpha val="100000"/>
                    </a:srgbClr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 </a:t>
              </a:r>
              <a:r>
                <a:rPr sz="2000" kern="0" spc="-40" dirty="0">
                  <a:solidFill>
                    <a:srgbClr val="FFFFFF">
                      <a:alpha val="100000"/>
                    </a:srgbClr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LG</a:t>
              </a:r>
              <a:r>
                <a:rPr sz="2000" kern="0" spc="110" dirty="0">
                  <a:solidFill>
                    <a:srgbClr val="FFFFFF">
                      <a:alpha val="100000"/>
                    </a:srgbClr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  </a:t>
              </a:r>
              <a:r>
                <a:rPr sz="2000" kern="0" spc="-40" dirty="0">
                  <a:solidFill>
                    <a:srgbClr val="FFFFFF">
                      <a:alpha val="100000"/>
                    </a:srgbClr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&lt;  W D</a:t>
              </a:r>
              <a:r>
                <a:rPr sz="2000" kern="0" spc="-130" dirty="0">
                  <a:solidFill>
                    <a:srgbClr val="FFFFFF">
                      <a:alpha val="100000"/>
                    </a:srgbClr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 </a:t>
              </a:r>
              <a:r>
                <a:rPr sz="2000" kern="0" spc="-40" dirty="0">
                  <a:solidFill>
                    <a:srgbClr val="FFFFFF">
                      <a:alpha val="100000"/>
                    </a:srgbClr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GC</a:t>
              </a:r>
              <a:endParaRPr sz="20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endParaRPr>
            </a:p>
            <a:p>
              <a:pPr algn="l" rtl="0" eaLnBrk="0">
                <a:lnSpc>
                  <a:spcPct val="16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466725" algn="l" rtl="0" eaLnBrk="0">
                <a:lnSpc>
                  <a:spcPct val="139000"/>
                </a:lnSpc>
                <a:spcBef>
                  <a:spcPts val="360"/>
                </a:spcBef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在整个监测期间中，门店CDL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G在日销售额、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              销售成本方面都要一直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低于WDGC。</a:t>
              </a:r>
              <a:endParaRPr sz="12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endParaRPr>
            </a:p>
            <a:p>
              <a:pPr algn="l" rtl="0" eaLnBrk="0">
                <a:lnSpc>
                  <a:spcPct val="114000"/>
                </a:lnSpc>
              </a:pPr>
              <a:endParaRPr sz="6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468630" algn="l" rtl="0" eaLnBrk="0">
                <a:lnSpc>
                  <a:spcPct val="93000"/>
                </a:lnSpc>
                <a:spcBef>
                  <a:spcPts val="0"/>
                </a:spcBef>
              </a:pP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是什么造成了这种差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异？</a:t>
              </a:r>
              <a:endParaRPr sz="12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 rot="21600000">
            <a:off x="1673351" y="4954523"/>
            <a:ext cx="3933443" cy="1773936"/>
            <a:chOff x="0" y="0"/>
            <a:chExt cx="3933443" cy="1773936"/>
          </a:xfrm>
        </p:grpSpPr>
        <p:grpSp>
          <p:nvGrpSpPr>
            <p:cNvPr id="8" name="group 8"/>
            <p:cNvGrpSpPr/>
            <p:nvPr/>
          </p:nvGrpSpPr>
          <p:grpSpPr>
            <a:xfrm rot="21600000">
              <a:off x="0" y="0"/>
              <a:ext cx="3933443" cy="1773936"/>
              <a:chOff x="0" y="0"/>
              <a:chExt cx="3933443" cy="1773936"/>
            </a:xfrm>
          </p:grpSpPr>
          <p:sp>
            <p:nvSpPr>
              <p:cNvPr id="38" name="path 38"/>
              <p:cNvSpPr/>
              <p:nvPr/>
            </p:nvSpPr>
            <p:spPr>
              <a:xfrm>
                <a:off x="0" y="0"/>
                <a:ext cx="3933443" cy="576072"/>
              </a:xfrm>
              <a:custGeom>
                <a:avLst/>
                <a:gdLst/>
                <a:ahLst/>
                <a:cxnLst/>
                <a:rect l="0" t="0" r="0" b="0"/>
                <a:pathLst>
                  <a:path w="6194" h="907">
                    <a:moveTo>
                      <a:pt x="0" y="907"/>
                    </a:moveTo>
                    <a:lnTo>
                      <a:pt x="6194" y="907"/>
                    </a:lnTo>
                    <a:lnTo>
                      <a:pt x="6194" y="0"/>
                    </a:lnTo>
                    <a:lnTo>
                      <a:pt x="0" y="0"/>
                    </a:lnTo>
                    <a:lnTo>
                      <a:pt x="0" y="907"/>
                    </a:lnTo>
                    <a:close/>
                  </a:path>
                </a:pathLst>
              </a:custGeom>
              <a:solidFill>
                <a:srgbClr val="499894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path 40"/>
              <p:cNvSpPr/>
              <p:nvPr/>
            </p:nvSpPr>
            <p:spPr>
              <a:xfrm>
                <a:off x="0" y="579120"/>
                <a:ext cx="3933443" cy="1194816"/>
              </a:xfrm>
              <a:custGeom>
                <a:avLst/>
                <a:gdLst/>
                <a:ahLst/>
                <a:cxnLst/>
                <a:rect l="0" t="0" r="0" b="0"/>
                <a:pathLst>
                  <a:path w="6194" h="1881">
                    <a:moveTo>
                      <a:pt x="0" y="1881"/>
                    </a:moveTo>
                    <a:lnTo>
                      <a:pt x="6194" y="1881"/>
                    </a:lnTo>
                    <a:lnTo>
                      <a:pt x="6194" y="0"/>
                    </a:lnTo>
                    <a:lnTo>
                      <a:pt x="0" y="0"/>
                    </a:lnTo>
                    <a:lnTo>
                      <a:pt x="0" y="1881"/>
                    </a:lnTo>
                    <a:close/>
                  </a:path>
                </a:pathLst>
              </a:custGeom>
              <a:solidFill>
                <a:srgbClr val="F2F2F2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2" name="textbox 42"/>
            <p:cNvSpPr/>
            <p:nvPr/>
          </p:nvSpPr>
          <p:spPr>
            <a:xfrm>
              <a:off x="-12700" y="-12700"/>
              <a:ext cx="3959225" cy="18110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7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61745" algn="l" rtl="0" eaLnBrk="0">
                <a:lnSpc>
                  <a:spcPct val="93000"/>
                </a:lnSpc>
                <a:spcBef>
                  <a:spcPts val="5"/>
                </a:spcBef>
              </a:pPr>
              <a:r>
                <a:rPr sz="2000" kern="0" spc="210" dirty="0">
                  <a:solidFill>
                    <a:srgbClr val="FFFFFF">
                      <a:alpha val="100000"/>
                    </a:srgbClr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异常高销售</a:t>
              </a:r>
              <a:endParaRPr sz="20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endParaRPr>
            </a:p>
            <a:p>
              <a:pPr algn="l" rtl="0" eaLnBrk="0">
                <a:lnSpc>
                  <a:spcPct val="13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467995" algn="l" rtl="0" eaLnBrk="0">
                <a:lnSpc>
                  <a:spcPct val="93000"/>
                </a:lnSpc>
                <a:spcBef>
                  <a:spcPts val="360"/>
                </a:spcBef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5月25日店铺CDLG与W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DGC均为当月销售额</a:t>
              </a:r>
              <a:endParaRPr sz="12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endParaRPr>
            </a:p>
            <a:p>
              <a:pPr marL="467360" indent="3810" algn="l" rtl="0" eaLnBrk="0">
                <a:lnSpc>
                  <a:spcPct val="139000"/>
                </a:lnSpc>
                <a:spcBef>
                  <a:spcPts val="335"/>
                </a:spcBef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与利润最高日，但W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DGC的利润高得离谱，达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          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到40000元，约为CD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LG的2倍；</a:t>
              </a:r>
              <a:endParaRPr sz="12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endParaRPr>
            </a:p>
            <a:p>
              <a:pPr algn="l" rtl="0" eaLnBrk="0">
                <a:lnSpc>
                  <a:spcPct val="112000"/>
                </a:lnSpc>
              </a:pPr>
              <a:endParaRPr sz="6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466090" algn="l" rtl="0" eaLnBrk="0">
                <a:lnSpc>
                  <a:spcPct val="93000"/>
                </a:lnSpc>
                <a:spcBef>
                  <a:spcPts val="0"/>
                </a:spcBef>
              </a:pP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造成这种异常高销售额的原因是什</a:t>
              </a:r>
              <a:r>
                <a:rPr sz="1200" kern="0" spc="-50" dirty="0">
                  <a:solidFill>
                    <a:srgbClr val="000000">
                      <a:alpha val="100000"/>
                    </a:srgbClr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么？</a:t>
              </a:r>
              <a:endParaRPr sz="12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endParaRPr>
            </a:p>
          </p:txBody>
        </p:sp>
      </p:grpSp>
      <p:pic>
        <p:nvPicPr>
          <p:cNvPr id="44" name="picture 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91668" y="766571"/>
            <a:ext cx="11800331" cy="71628"/>
          </a:xfrm>
          <a:prstGeom prst="rect">
            <a:avLst/>
          </a:prstGeom>
        </p:spPr>
      </p:pic>
      <p:sp>
        <p:nvSpPr>
          <p:cNvPr id="46" name="textbox 46"/>
          <p:cNvSpPr/>
          <p:nvPr/>
        </p:nvSpPr>
        <p:spPr>
          <a:xfrm>
            <a:off x="416458" y="318033"/>
            <a:ext cx="1355725" cy="380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2400" b="1" kern="0" spc="21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发现问题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8"/>
          <p:cNvSpPr/>
          <p:nvPr/>
        </p:nvSpPr>
        <p:spPr>
          <a:xfrm>
            <a:off x="11941124" y="6618376"/>
            <a:ext cx="99694" cy="158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3000"/>
              </a:lnSpc>
            </a:pPr>
            <a:r>
              <a:rPr sz="1200" kern="0" spc="-20" dirty="0">
                <a:solidFill>
                  <a:srgbClr val="89898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 rot="21600000">
            <a:off x="6585204" y="4945379"/>
            <a:ext cx="3933443" cy="1780032"/>
            <a:chOff x="0" y="0"/>
            <a:chExt cx="3933443" cy="1780032"/>
          </a:xfrm>
        </p:grpSpPr>
        <p:grpSp>
          <p:nvGrpSpPr>
            <p:cNvPr id="12" name="group 12"/>
            <p:cNvGrpSpPr/>
            <p:nvPr/>
          </p:nvGrpSpPr>
          <p:grpSpPr>
            <a:xfrm rot="21600000">
              <a:off x="0" y="0"/>
              <a:ext cx="3933443" cy="1780032"/>
              <a:chOff x="0" y="0"/>
              <a:chExt cx="3933443" cy="1780032"/>
            </a:xfrm>
          </p:grpSpPr>
          <p:sp>
            <p:nvSpPr>
              <p:cNvPr id="50" name="path 50"/>
              <p:cNvSpPr/>
              <p:nvPr/>
            </p:nvSpPr>
            <p:spPr>
              <a:xfrm>
                <a:off x="0" y="0"/>
                <a:ext cx="3933443" cy="585216"/>
              </a:xfrm>
              <a:custGeom>
                <a:avLst/>
                <a:gdLst/>
                <a:ahLst/>
                <a:cxnLst/>
                <a:rect l="0" t="0" r="0" b="0"/>
                <a:pathLst>
                  <a:path w="6194" h="921">
                    <a:moveTo>
                      <a:pt x="0" y="921"/>
                    </a:moveTo>
                    <a:lnTo>
                      <a:pt x="6194" y="921"/>
                    </a:lnTo>
                    <a:lnTo>
                      <a:pt x="6194" y="0"/>
                    </a:lnTo>
                    <a:lnTo>
                      <a:pt x="0" y="0"/>
                    </a:lnTo>
                    <a:lnTo>
                      <a:pt x="0" y="921"/>
                    </a:lnTo>
                    <a:close/>
                  </a:path>
                </a:pathLst>
              </a:custGeom>
              <a:solidFill>
                <a:srgbClr val="499894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path 52"/>
              <p:cNvSpPr/>
              <p:nvPr/>
            </p:nvSpPr>
            <p:spPr>
              <a:xfrm>
                <a:off x="0" y="585216"/>
                <a:ext cx="3933443" cy="1194816"/>
              </a:xfrm>
              <a:custGeom>
                <a:avLst/>
                <a:gdLst/>
                <a:ahLst/>
                <a:cxnLst/>
                <a:rect l="0" t="0" r="0" b="0"/>
                <a:pathLst>
                  <a:path w="6194" h="1881">
                    <a:moveTo>
                      <a:pt x="0" y="1881"/>
                    </a:moveTo>
                    <a:lnTo>
                      <a:pt x="6194" y="1881"/>
                    </a:lnTo>
                    <a:lnTo>
                      <a:pt x="6194" y="0"/>
                    </a:lnTo>
                    <a:lnTo>
                      <a:pt x="0" y="0"/>
                    </a:lnTo>
                    <a:lnTo>
                      <a:pt x="0" y="1881"/>
                    </a:lnTo>
                    <a:close/>
                  </a:path>
                </a:pathLst>
              </a:custGeom>
              <a:solidFill>
                <a:srgbClr val="F2F2F2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4" name="textbox 54"/>
            <p:cNvSpPr/>
            <p:nvPr/>
          </p:nvSpPr>
          <p:spPr>
            <a:xfrm>
              <a:off x="-12700" y="-12700"/>
              <a:ext cx="3959225" cy="181737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7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951865" algn="l" rtl="0" eaLnBrk="0">
                <a:lnSpc>
                  <a:spcPts val="2470"/>
                </a:lnSpc>
              </a:pPr>
              <a:r>
                <a:rPr sz="2000" kern="0" spc="-40" dirty="0">
                  <a:solidFill>
                    <a:srgbClr val="FFFFFF">
                      <a:alpha val="100000"/>
                    </a:srgbClr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C D</a:t>
              </a:r>
              <a:r>
                <a:rPr sz="2000" kern="0" spc="-10" dirty="0">
                  <a:solidFill>
                    <a:srgbClr val="FFFFFF">
                      <a:alpha val="100000"/>
                    </a:srgbClr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 </a:t>
              </a:r>
              <a:r>
                <a:rPr sz="2000" kern="0" spc="-40" dirty="0">
                  <a:solidFill>
                    <a:srgbClr val="FFFFFF">
                      <a:alpha val="100000"/>
                    </a:srgbClr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LG</a:t>
              </a:r>
              <a:r>
                <a:rPr sz="2000" kern="0" spc="110" dirty="0">
                  <a:solidFill>
                    <a:srgbClr val="FFFFFF">
                      <a:alpha val="100000"/>
                    </a:srgbClr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  </a:t>
              </a:r>
              <a:r>
                <a:rPr sz="2000" kern="0" spc="-40" dirty="0">
                  <a:solidFill>
                    <a:srgbClr val="FFFFFF">
                      <a:alpha val="100000"/>
                    </a:srgbClr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&lt;  W D</a:t>
              </a:r>
              <a:r>
                <a:rPr sz="2000" kern="0" spc="-130" dirty="0">
                  <a:solidFill>
                    <a:srgbClr val="FFFFFF">
                      <a:alpha val="100000"/>
                    </a:srgbClr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 </a:t>
              </a:r>
              <a:r>
                <a:rPr sz="2000" kern="0" spc="-40" dirty="0">
                  <a:solidFill>
                    <a:srgbClr val="FFFFFF">
                      <a:alpha val="100000"/>
                    </a:srgbClr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GC</a:t>
              </a:r>
              <a:endParaRPr sz="20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endParaRPr>
            </a:p>
            <a:p>
              <a:pPr algn="l" rtl="0" eaLnBrk="0">
                <a:lnSpc>
                  <a:spcPct val="16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466725" algn="l" rtl="0" eaLnBrk="0">
                <a:lnSpc>
                  <a:spcPct val="139000"/>
                </a:lnSpc>
                <a:spcBef>
                  <a:spcPts val="360"/>
                </a:spcBef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在整个监测期间中，门店CDL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G在日销售额、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              销售成本方面都要一直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低于WDGC。</a:t>
              </a:r>
              <a:endParaRPr sz="12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endParaRPr>
            </a:p>
            <a:p>
              <a:pPr algn="l" rtl="0" eaLnBrk="0">
                <a:lnSpc>
                  <a:spcPct val="114000"/>
                </a:lnSpc>
              </a:pPr>
              <a:endParaRPr sz="6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468630" algn="l" rtl="0" eaLnBrk="0">
                <a:lnSpc>
                  <a:spcPct val="93000"/>
                </a:lnSpc>
                <a:spcBef>
                  <a:spcPts val="0"/>
                </a:spcBef>
              </a:pP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是什么造成了这种差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异？</a:t>
              </a:r>
              <a:endParaRPr sz="12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 rot="21600000">
            <a:off x="1673351" y="4954523"/>
            <a:ext cx="3933443" cy="1773936"/>
            <a:chOff x="0" y="0"/>
            <a:chExt cx="3933443" cy="1773936"/>
          </a:xfrm>
        </p:grpSpPr>
        <p:grpSp>
          <p:nvGrpSpPr>
            <p:cNvPr id="16" name="group 16"/>
            <p:cNvGrpSpPr/>
            <p:nvPr/>
          </p:nvGrpSpPr>
          <p:grpSpPr>
            <a:xfrm rot="21600000">
              <a:off x="0" y="0"/>
              <a:ext cx="3933443" cy="1773936"/>
              <a:chOff x="0" y="0"/>
              <a:chExt cx="3933443" cy="1773936"/>
            </a:xfrm>
          </p:grpSpPr>
          <p:sp>
            <p:nvSpPr>
              <p:cNvPr id="56" name="path 56"/>
              <p:cNvSpPr/>
              <p:nvPr/>
            </p:nvSpPr>
            <p:spPr>
              <a:xfrm>
                <a:off x="0" y="0"/>
                <a:ext cx="3933443" cy="576072"/>
              </a:xfrm>
              <a:custGeom>
                <a:avLst/>
                <a:gdLst/>
                <a:ahLst/>
                <a:cxnLst/>
                <a:rect l="0" t="0" r="0" b="0"/>
                <a:pathLst>
                  <a:path w="6194" h="907">
                    <a:moveTo>
                      <a:pt x="0" y="907"/>
                    </a:moveTo>
                    <a:lnTo>
                      <a:pt x="6194" y="907"/>
                    </a:lnTo>
                    <a:lnTo>
                      <a:pt x="6194" y="0"/>
                    </a:lnTo>
                    <a:lnTo>
                      <a:pt x="0" y="0"/>
                    </a:lnTo>
                    <a:lnTo>
                      <a:pt x="0" y="907"/>
                    </a:lnTo>
                    <a:close/>
                  </a:path>
                </a:pathLst>
              </a:custGeom>
              <a:solidFill>
                <a:srgbClr val="499894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path 58"/>
              <p:cNvSpPr/>
              <p:nvPr/>
            </p:nvSpPr>
            <p:spPr>
              <a:xfrm>
                <a:off x="0" y="579120"/>
                <a:ext cx="3933443" cy="1194816"/>
              </a:xfrm>
              <a:custGeom>
                <a:avLst/>
                <a:gdLst/>
                <a:ahLst/>
                <a:cxnLst/>
                <a:rect l="0" t="0" r="0" b="0"/>
                <a:pathLst>
                  <a:path w="6194" h="1881">
                    <a:moveTo>
                      <a:pt x="0" y="1881"/>
                    </a:moveTo>
                    <a:lnTo>
                      <a:pt x="6194" y="1881"/>
                    </a:lnTo>
                    <a:lnTo>
                      <a:pt x="6194" y="0"/>
                    </a:lnTo>
                    <a:lnTo>
                      <a:pt x="0" y="0"/>
                    </a:lnTo>
                    <a:lnTo>
                      <a:pt x="0" y="1881"/>
                    </a:lnTo>
                    <a:close/>
                  </a:path>
                </a:pathLst>
              </a:custGeom>
              <a:solidFill>
                <a:srgbClr val="F2F2F2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0" name="textbox 60"/>
            <p:cNvSpPr/>
            <p:nvPr/>
          </p:nvSpPr>
          <p:spPr>
            <a:xfrm>
              <a:off x="-12700" y="-12700"/>
              <a:ext cx="3959225" cy="18110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7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61745" algn="l" rtl="0" eaLnBrk="0">
                <a:lnSpc>
                  <a:spcPct val="93000"/>
                </a:lnSpc>
                <a:spcBef>
                  <a:spcPts val="5"/>
                </a:spcBef>
              </a:pPr>
              <a:r>
                <a:rPr sz="2000" kern="0" spc="210" dirty="0">
                  <a:solidFill>
                    <a:srgbClr val="FFFFFF">
                      <a:alpha val="100000"/>
                    </a:srgbClr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异常高销售</a:t>
              </a:r>
              <a:endParaRPr sz="20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endParaRPr>
            </a:p>
            <a:p>
              <a:pPr algn="l" rtl="0" eaLnBrk="0">
                <a:lnSpc>
                  <a:spcPct val="13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467995" algn="l" rtl="0" eaLnBrk="0">
                <a:lnSpc>
                  <a:spcPct val="93000"/>
                </a:lnSpc>
                <a:spcBef>
                  <a:spcPts val="360"/>
                </a:spcBef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5月25日店铺CDLG与W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DGC均为当月销售额</a:t>
              </a:r>
              <a:endParaRPr sz="12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endParaRPr>
            </a:p>
            <a:p>
              <a:pPr marL="467360" indent="3810" algn="l" rtl="0" eaLnBrk="0">
                <a:lnSpc>
                  <a:spcPct val="139000"/>
                </a:lnSpc>
                <a:spcBef>
                  <a:spcPts val="335"/>
                </a:spcBef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与利润最高日，但W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DGC的利润高得离谱，达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          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到40000元，约为CD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LG的2倍；</a:t>
              </a:r>
              <a:endParaRPr sz="12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endParaRPr>
            </a:p>
            <a:p>
              <a:pPr algn="l" rtl="0" eaLnBrk="0">
                <a:lnSpc>
                  <a:spcPct val="112000"/>
                </a:lnSpc>
              </a:pPr>
              <a:endParaRPr sz="6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466090" algn="l" rtl="0" eaLnBrk="0">
                <a:lnSpc>
                  <a:spcPct val="93000"/>
                </a:lnSpc>
                <a:spcBef>
                  <a:spcPts val="0"/>
                </a:spcBef>
              </a:pP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造成这种异常高销售额的原因是什</a:t>
              </a:r>
              <a:r>
                <a:rPr sz="1200" kern="0" spc="-50" dirty="0">
                  <a:solidFill>
                    <a:srgbClr val="000000">
                      <a:alpha val="100000"/>
                    </a:srgbClr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么？</a:t>
              </a:r>
              <a:endParaRPr sz="12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endParaRPr>
            </a:p>
          </p:txBody>
        </p:sp>
      </p:grpSp>
      <p:sp>
        <p:nvSpPr>
          <p:cNvPr id="62" name="textbox 62"/>
          <p:cNvSpPr/>
          <p:nvPr/>
        </p:nvSpPr>
        <p:spPr>
          <a:xfrm>
            <a:off x="7403335" y="2140594"/>
            <a:ext cx="2242185" cy="1508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19810" algn="l" rtl="0" eaLnBrk="0">
              <a:lnSpc>
                <a:spcPct val="86000"/>
              </a:lnSpc>
            </a:pPr>
            <a:r>
              <a:rPr sz="3900" b="1" kern="0" spc="-1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3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5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9000"/>
              </a:lnSpc>
              <a:spcBef>
                <a:spcPts val="5"/>
              </a:spcBef>
            </a:pPr>
            <a:r>
              <a:rPr sz="3900" b="1" kern="0" spc="46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提升可能</a:t>
            </a:r>
            <a:endParaRPr sz="3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textbox 64"/>
          <p:cNvSpPr/>
          <p:nvPr/>
        </p:nvSpPr>
        <p:spPr>
          <a:xfrm>
            <a:off x="2494656" y="2138564"/>
            <a:ext cx="2236470" cy="15125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35050" algn="l" rtl="0" eaLnBrk="0">
              <a:lnSpc>
                <a:spcPct val="86000"/>
              </a:lnSpc>
            </a:pPr>
            <a:r>
              <a:rPr sz="3900" b="1" kern="0" spc="-1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3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5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0000"/>
              </a:lnSpc>
            </a:pPr>
            <a:r>
              <a:rPr sz="3900" b="1" kern="0" spc="44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异常原因</a:t>
            </a:r>
            <a:endParaRPr sz="3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6" name="picture 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91668" y="766571"/>
            <a:ext cx="11800331" cy="71628"/>
          </a:xfrm>
          <a:prstGeom prst="rect">
            <a:avLst/>
          </a:prstGeom>
        </p:spPr>
      </p:pic>
      <p:sp>
        <p:nvSpPr>
          <p:cNvPr id="68" name="textbox 68"/>
          <p:cNvSpPr/>
          <p:nvPr/>
        </p:nvSpPr>
        <p:spPr>
          <a:xfrm>
            <a:off x="415544" y="318033"/>
            <a:ext cx="1356994" cy="3816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2400" b="1" kern="0" spc="21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分析目标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textbox 70"/>
          <p:cNvSpPr/>
          <p:nvPr/>
        </p:nvSpPr>
        <p:spPr>
          <a:xfrm>
            <a:off x="11945087" y="6618833"/>
            <a:ext cx="95250" cy="1581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3000"/>
              </a:lnSpc>
            </a:pPr>
            <a:r>
              <a:rPr sz="1200" kern="0" spc="-20" dirty="0">
                <a:solidFill>
                  <a:srgbClr val="89898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5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 72"/>
          <p:cNvSpPr/>
          <p:nvPr/>
        </p:nvSpPr>
        <p:spPr>
          <a:xfrm>
            <a:off x="0" y="0"/>
            <a:ext cx="4658867" cy="6857998"/>
          </a:xfrm>
          <a:prstGeom prst="rect">
            <a:avLst/>
          </a:prstGeom>
          <a:solidFill>
            <a:srgbClr val="49989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4" name="textbox 74"/>
          <p:cNvSpPr/>
          <p:nvPr/>
        </p:nvSpPr>
        <p:spPr>
          <a:xfrm>
            <a:off x="6258204" y="1125448"/>
            <a:ext cx="3404234" cy="29597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0640" algn="l" rtl="0" eaLnBrk="0">
              <a:lnSpc>
                <a:spcPct val="99000"/>
              </a:lnSpc>
            </a:pPr>
            <a:r>
              <a:rPr sz="3600" kern="0" spc="-2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</a:t>
            </a:r>
            <a:endParaRPr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3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  <a:spcBef>
                <a:spcPts val="540"/>
              </a:spcBef>
            </a:pPr>
            <a:r>
              <a:rPr sz="1800" kern="0" spc="-5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sz="1800" kern="0" spc="19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5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1800" kern="0" spc="21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800" kern="0" spc="-5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sz="1800" kern="0" spc="23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800" kern="0" spc="-5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</a:t>
            </a:r>
            <a:r>
              <a:rPr sz="1800" kern="0" spc="23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5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 背 景 与</a:t>
            </a:r>
            <a:r>
              <a:rPr sz="1800" kern="0" spc="9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5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 题 需</a:t>
            </a:r>
            <a:r>
              <a:rPr sz="1800" kern="0" spc="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5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4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  <a:spcBef>
                <a:spcPts val="550"/>
              </a:spcBef>
            </a:pP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 2   /  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影 响</a:t>
            </a:r>
            <a:r>
              <a:rPr sz="18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 素 拆 解 思 路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3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  <a:spcBef>
                <a:spcPts val="545"/>
              </a:spcBef>
            </a:pPr>
            <a:r>
              <a:rPr sz="1800" kern="0" spc="-2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 3   /   可 视 化 </a:t>
            </a:r>
            <a:r>
              <a:rPr sz="1800" kern="0" spc="-3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 析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4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  <a:spcBef>
                <a:spcPts val="5"/>
              </a:spcBef>
            </a:pPr>
            <a:r>
              <a:rPr sz="1800" kern="0" spc="-2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0 4</a:t>
            </a:r>
            <a:r>
              <a:rPr sz="1800" kern="0" spc="24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800" kern="0" spc="-2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sz="1800" kern="0" spc="23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800" kern="0" spc="-2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 析 结 论 与 改 进 建 议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textbox 76"/>
          <p:cNvSpPr/>
          <p:nvPr/>
        </p:nvSpPr>
        <p:spPr>
          <a:xfrm>
            <a:off x="11945544" y="6617461"/>
            <a:ext cx="95250" cy="1600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3000"/>
              </a:lnSpc>
            </a:pPr>
            <a:r>
              <a:rPr sz="1200" kern="0" spc="-20" dirty="0">
                <a:solidFill>
                  <a:srgbClr val="89898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6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91668" y="766571"/>
            <a:ext cx="11800331" cy="71628"/>
          </a:xfrm>
          <a:prstGeom prst="rect">
            <a:avLst/>
          </a:prstGeom>
        </p:spPr>
      </p:pic>
      <p:pic>
        <p:nvPicPr>
          <p:cNvPr id="80" name="picture 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754367" y="0"/>
            <a:ext cx="5437632" cy="6857997"/>
          </a:xfrm>
          <a:prstGeom prst="rect">
            <a:avLst/>
          </a:prstGeom>
        </p:spPr>
      </p:pic>
      <p:sp>
        <p:nvSpPr>
          <p:cNvPr id="82" name="textbox 82"/>
          <p:cNvSpPr/>
          <p:nvPr/>
        </p:nvSpPr>
        <p:spPr>
          <a:xfrm>
            <a:off x="414635" y="1191254"/>
            <a:ext cx="6142354" cy="1034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9000"/>
              </a:lnSpc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针对所发现的问题，以2017年月门店销售额为关键指标进行解析，以下为影响</a:t>
            </a: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该关键指标的影响因素拆解思路。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6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47345" algn="l" rtl="0" eaLnBrk="0">
              <a:lnSpc>
                <a:spcPct val="97000"/>
              </a:lnSpc>
              <a:spcBef>
                <a:spcPts val="5"/>
              </a:spcBef>
            </a:pP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观察维度：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textbox 84"/>
          <p:cNvSpPr/>
          <p:nvPr/>
        </p:nvSpPr>
        <p:spPr>
          <a:xfrm>
            <a:off x="749528" y="4676699"/>
            <a:ext cx="4366259" cy="1117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1800" kern="0" spc="-1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观察基准设定：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7620" algn="l" rtl="0" eaLnBrk="0">
              <a:lnSpc>
                <a:spcPct val="140000"/>
              </a:lnSpc>
              <a:spcBef>
                <a:spcPts val="445"/>
              </a:spcBef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以时间为维度、参考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相关指标的年、月同比 </a:t>
            </a:r>
            <a:r>
              <a:rPr sz="1800" kern="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指标等。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textbox 86"/>
          <p:cNvSpPr/>
          <p:nvPr/>
        </p:nvSpPr>
        <p:spPr>
          <a:xfrm>
            <a:off x="424078" y="318033"/>
            <a:ext cx="3298825" cy="380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2400" b="1" kern="0" spc="22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r>
              <a:rPr sz="2400" b="1" kern="0" spc="68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kern="0" spc="22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影响因素拆解思路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textbox 88"/>
          <p:cNvSpPr/>
          <p:nvPr/>
        </p:nvSpPr>
        <p:spPr>
          <a:xfrm>
            <a:off x="2661207" y="3052654"/>
            <a:ext cx="705484" cy="10439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2700" b="1" kern="0" spc="6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2.货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955" algn="l" rtl="0" eaLnBrk="0">
              <a:lnSpc>
                <a:spcPts val="5040"/>
              </a:lnSpc>
            </a:pPr>
            <a:r>
              <a:rPr sz="2700" b="1" kern="0" spc="4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3.人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textbox 90"/>
          <p:cNvSpPr/>
          <p:nvPr/>
        </p:nvSpPr>
        <p:spPr>
          <a:xfrm>
            <a:off x="2675411" y="2412320"/>
            <a:ext cx="690880" cy="4425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3280"/>
              </a:lnSpc>
            </a:pPr>
            <a:r>
              <a:rPr sz="2700" b="1" kern="0" spc="2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1.场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" name="path 92"/>
          <p:cNvSpPr/>
          <p:nvPr/>
        </p:nvSpPr>
        <p:spPr>
          <a:xfrm>
            <a:off x="461771" y="1876044"/>
            <a:ext cx="6096" cy="3842258"/>
          </a:xfrm>
          <a:custGeom>
            <a:avLst/>
            <a:gdLst/>
            <a:ahLst/>
            <a:cxnLst/>
            <a:rect l="0" t="0" r="0" b="0"/>
            <a:pathLst>
              <a:path w="9" h="6050">
                <a:moveTo>
                  <a:pt x="4" y="6050"/>
                </a:moveTo>
                <a:lnTo>
                  <a:pt x="4" y="0"/>
                </a:lnTo>
              </a:path>
            </a:pathLst>
          </a:custGeom>
          <a:noFill/>
          <a:ln w="6096" cap="flat">
            <a:solidFill>
              <a:srgbClr val="499894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9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24840" y="1097279"/>
            <a:ext cx="10521696" cy="5172455"/>
          </a:xfrm>
          <a:prstGeom prst="rect">
            <a:avLst/>
          </a:prstGeom>
        </p:spPr>
      </p:pic>
      <p:pic>
        <p:nvPicPr>
          <p:cNvPr id="96" name="picture 9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91668" y="766571"/>
            <a:ext cx="11800331" cy="71628"/>
          </a:xfrm>
          <a:prstGeom prst="rect">
            <a:avLst/>
          </a:prstGeom>
        </p:spPr>
      </p:pic>
      <p:sp>
        <p:nvSpPr>
          <p:cNvPr id="98" name="textbox 98"/>
          <p:cNvSpPr/>
          <p:nvPr/>
        </p:nvSpPr>
        <p:spPr>
          <a:xfrm>
            <a:off x="414934" y="318033"/>
            <a:ext cx="2556510" cy="380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2400" b="1" kern="0" spc="22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影响因素拆解-</a:t>
            </a:r>
            <a:r>
              <a:rPr sz="2400" b="1" kern="0" spc="-39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kern="0" spc="22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" name="textbox 100"/>
          <p:cNvSpPr/>
          <p:nvPr/>
        </p:nvSpPr>
        <p:spPr>
          <a:xfrm>
            <a:off x="11943715" y="6617461"/>
            <a:ext cx="97155" cy="1600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3000"/>
              </a:lnSpc>
            </a:pPr>
            <a:r>
              <a:rPr sz="1200" kern="0" spc="-20" dirty="0">
                <a:solidFill>
                  <a:srgbClr val="89898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8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1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33756" y="1513332"/>
            <a:ext cx="11858243" cy="4047744"/>
          </a:xfrm>
          <a:prstGeom prst="rect">
            <a:avLst/>
          </a:prstGeom>
        </p:spPr>
      </p:pic>
      <p:pic>
        <p:nvPicPr>
          <p:cNvPr id="104" name="picture 1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91668" y="766571"/>
            <a:ext cx="11800331" cy="71628"/>
          </a:xfrm>
          <a:prstGeom prst="rect">
            <a:avLst/>
          </a:prstGeom>
        </p:spPr>
      </p:pic>
      <p:sp>
        <p:nvSpPr>
          <p:cNvPr id="106" name="textbox 106"/>
          <p:cNvSpPr/>
          <p:nvPr/>
        </p:nvSpPr>
        <p:spPr>
          <a:xfrm>
            <a:off x="414934" y="318033"/>
            <a:ext cx="2556510" cy="380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2400" b="1" kern="0" spc="22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影响因素拆解-</a:t>
            </a:r>
            <a:r>
              <a:rPr sz="2400" b="1" kern="0" spc="-37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kern="0" spc="22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货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8" name="textbox 108"/>
          <p:cNvSpPr/>
          <p:nvPr/>
        </p:nvSpPr>
        <p:spPr>
          <a:xfrm>
            <a:off x="11943715" y="6617461"/>
            <a:ext cx="97155" cy="1600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3000"/>
              </a:lnSpc>
            </a:pPr>
            <a:r>
              <a:rPr sz="1200" kern="0" spc="-20" dirty="0">
                <a:solidFill>
                  <a:srgbClr val="89898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9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picture 1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614928" y="914397"/>
            <a:ext cx="5760719" cy="5838442"/>
          </a:xfrm>
          <a:prstGeom prst="rect">
            <a:avLst/>
          </a:prstGeom>
        </p:spPr>
      </p:pic>
      <p:pic>
        <p:nvPicPr>
          <p:cNvPr id="112" name="picture 1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91668" y="766571"/>
            <a:ext cx="11800331" cy="71628"/>
          </a:xfrm>
          <a:prstGeom prst="rect">
            <a:avLst/>
          </a:prstGeom>
        </p:spPr>
      </p:pic>
      <p:sp>
        <p:nvSpPr>
          <p:cNvPr id="114" name="textbox 114"/>
          <p:cNvSpPr/>
          <p:nvPr/>
        </p:nvSpPr>
        <p:spPr>
          <a:xfrm>
            <a:off x="414934" y="318033"/>
            <a:ext cx="2556510" cy="380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2400" b="1" kern="0" spc="22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影响因素拆解-</a:t>
            </a:r>
            <a:r>
              <a:rPr sz="2400" b="1" kern="0" spc="-38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kern="0" spc="22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6" name="textbox 116"/>
          <p:cNvSpPr/>
          <p:nvPr/>
        </p:nvSpPr>
        <p:spPr>
          <a:xfrm>
            <a:off x="11872848" y="6617461"/>
            <a:ext cx="167639" cy="1600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3000"/>
              </a:lnSpc>
            </a:pPr>
            <a:r>
              <a:rPr sz="1200" kern="0" spc="-40" dirty="0">
                <a:solidFill>
                  <a:srgbClr val="89898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10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 118"/>
          <p:cNvSpPr/>
          <p:nvPr/>
        </p:nvSpPr>
        <p:spPr>
          <a:xfrm>
            <a:off x="0" y="0"/>
            <a:ext cx="4658867" cy="6857998"/>
          </a:xfrm>
          <a:prstGeom prst="rect">
            <a:avLst/>
          </a:prstGeom>
          <a:solidFill>
            <a:srgbClr val="49989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0" name="textbox 120"/>
          <p:cNvSpPr/>
          <p:nvPr/>
        </p:nvSpPr>
        <p:spPr>
          <a:xfrm>
            <a:off x="6258204" y="1125448"/>
            <a:ext cx="3404234" cy="29597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0640" algn="l" rtl="0" eaLnBrk="0">
              <a:lnSpc>
                <a:spcPct val="99000"/>
              </a:lnSpc>
            </a:pPr>
            <a:r>
              <a:rPr sz="3600" kern="0" spc="-2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</a:t>
            </a:r>
            <a:endParaRPr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2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90000"/>
              </a:lnSpc>
              <a:spcBef>
                <a:spcPts val="540"/>
              </a:spcBef>
            </a:pPr>
            <a:r>
              <a:rPr sz="1800" kern="0" spc="-5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sz="1800" kern="0" spc="15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5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1800" kern="0" spc="21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800" kern="0" spc="-5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sz="1800" kern="0" spc="23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800" kern="0" spc="-5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</a:t>
            </a:r>
            <a:r>
              <a:rPr sz="1800" kern="0" spc="23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5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 背 景 与</a:t>
            </a:r>
            <a:r>
              <a:rPr sz="1800" kern="0" spc="9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5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 题 需</a:t>
            </a:r>
            <a:r>
              <a:rPr sz="1800" kern="0" spc="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5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</a:t>
            </a:r>
            <a:r>
              <a:rPr sz="1800" kern="0" spc="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2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 2   /   </a:t>
            </a:r>
            <a:r>
              <a:rPr sz="1800" kern="0" spc="-3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影 响</a:t>
            </a:r>
            <a:r>
              <a:rPr sz="1800" kern="0" spc="11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3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 素 拆 解 思 路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3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  <a:spcBef>
                <a:spcPts val="545"/>
              </a:spcBef>
            </a:pP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 3   /   可 视 化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 析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4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  <a:spcBef>
                <a:spcPts val="5"/>
              </a:spcBef>
            </a:pPr>
            <a:r>
              <a:rPr sz="1800" kern="0" spc="-2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0 4</a:t>
            </a:r>
            <a:r>
              <a:rPr sz="1800" kern="0" spc="24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800" kern="0" spc="-2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sz="1800" kern="0" spc="23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800" kern="0" spc="-2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 析 结 论 与 改 进 建 议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2" name="textbox 122"/>
          <p:cNvSpPr/>
          <p:nvPr/>
        </p:nvSpPr>
        <p:spPr>
          <a:xfrm>
            <a:off x="11872848" y="6618223"/>
            <a:ext cx="167639" cy="1593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3000"/>
              </a:lnSpc>
            </a:pPr>
            <a:r>
              <a:rPr sz="1200" kern="0" spc="-40" dirty="0">
                <a:solidFill>
                  <a:srgbClr val="89898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11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box 124"/>
          <p:cNvSpPr/>
          <p:nvPr/>
        </p:nvSpPr>
        <p:spPr>
          <a:xfrm>
            <a:off x="5467391" y="3600418"/>
            <a:ext cx="1214755" cy="3225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</a:pPr>
            <a:r>
              <a:rPr sz="2000" kern="0" spc="34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因素分析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6" name="textbox 126"/>
          <p:cNvSpPr/>
          <p:nvPr/>
        </p:nvSpPr>
        <p:spPr>
          <a:xfrm>
            <a:off x="5879386" y="2847555"/>
            <a:ext cx="376554" cy="4425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3285"/>
              </a:lnSpc>
            </a:pPr>
            <a:r>
              <a:rPr sz="2700" b="1" kern="0" spc="5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8" name="path 128"/>
          <p:cNvSpPr/>
          <p:nvPr/>
        </p:nvSpPr>
        <p:spPr>
          <a:xfrm>
            <a:off x="5459729" y="3380232"/>
            <a:ext cx="1179067" cy="22859"/>
          </a:xfrm>
          <a:custGeom>
            <a:avLst/>
            <a:gdLst/>
            <a:ahLst/>
            <a:cxnLst/>
            <a:rect l="0" t="0" r="0" b="0"/>
            <a:pathLst>
              <a:path w="1856" h="35">
                <a:moveTo>
                  <a:pt x="0" y="17"/>
                </a:moveTo>
                <a:lnTo>
                  <a:pt x="1856" y="17"/>
                </a:lnTo>
              </a:path>
            </a:pathLst>
          </a:custGeom>
          <a:noFill/>
          <a:ln w="22859" cap="flat">
            <a:solidFill>
              <a:srgbClr val="224644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0" name="textbox 130"/>
          <p:cNvSpPr/>
          <p:nvPr/>
        </p:nvSpPr>
        <p:spPr>
          <a:xfrm>
            <a:off x="11872848" y="6617461"/>
            <a:ext cx="167639" cy="1600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3000"/>
              </a:lnSpc>
            </a:pPr>
            <a:r>
              <a:rPr sz="1200" kern="0" spc="-40" dirty="0">
                <a:solidFill>
                  <a:srgbClr val="89898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12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picture 1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666488" y="1217676"/>
            <a:ext cx="7525511" cy="5274564"/>
          </a:xfrm>
          <a:prstGeom prst="rect">
            <a:avLst/>
          </a:prstGeom>
        </p:spPr>
      </p:pic>
      <p:sp>
        <p:nvSpPr>
          <p:cNvPr id="134" name="textbox 134"/>
          <p:cNvSpPr/>
          <p:nvPr/>
        </p:nvSpPr>
        <p:spPr>
          <a:xfrm>
            <a:off x="333756" y="1252728"/>
            <a:ext cx="4223384" cy="5274945"/>
          </a:xfrm>
          <a:prstGeom prst="rect">
            <a:avLst/>
          </a:prstGeom>
          <a:solidFill>
            <a:srgbClr val="49989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89585" algn="l" rtl="0" eaLnBrk="0">
              <a:lnSpc>
                <a:spcPct val="97000"/>
              </a:lnSpc>
              <a:spcBef>
                <a:spcPts val="0"/>
              </a:spcBef>
            </a:pPr>
            <a:r>
              <a:rPr sz="1800" kern="0" spc="-1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2017年门店销售额相比2016年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78155" algn="l" rtl="0" eaLnBrk="0">
              <a:lnSpc>
                <a:spcPct val="98000"/>
              </a:lnSpc>
              <a:spcBef>
                <a:spcPts val="1460"/>
              </a:spcBef>
            </a:pPr>
            <a:r>
              <a:rPr sz="24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整体下降</a:t>
            </a:r>
            <a:r>
              <a:rPr sz="18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2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80060" indent="1905" algn="l" rtl="0" eaLnBrk="0">
              <a:lnSpc>
                <a:spcPct val="145000"/>
              </a:lnSpc>
              <a:spcBef>
                <a:spcPts val="5"/>
              </a:spcBef>
            </a:pPr>
            <a:r>
              <a:rPr sz="1800" kern="0" spc="-1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两家门店在年销售额与月销售方</a:t>
            </a:r>
            <a:r>
              <a:rPr sz="1800" kern="0" spc="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面都出现同比减少，因此</a:t>
            </a:r>
            <a:r>
              <a:rPr sz="1800" kern="0" spc="-1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2017</a:t>
            </a:r>
            <a:r>
              <a:rPr sz="1800" kern="0" spc="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年五月两家门店的月销</a:t>
            </a:r>
            <a:r>
              <a:rPr sz="1800" kern="0" spc="-1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量同比减         </a:t>
            </a:r>
            <a:r>
              <a:rPr sz="1800" kern="0" spc="-4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少，不是个别现象。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6" name="textbox 136"/>
          <p:cNvSpPr/>
          <p:nvPr/>
        </p:nvSpPr>
        <p:spPr>
          <a:xfrm>
            <a:off x="428345" y="318033"/>
            <a:ext cx="5892165" cy="3816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2400" b="1" kern="0" spc="22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2017</a:t>
            </a:r>
            <a:r>
              <a:rPr sz="2400" b="1" kern="0" spc="-31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kern="0" spc="22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年门店销售整体情况不如</a:t>
            </a:r>
            <a:r>
              <a:rPr sz="2400" b="1" kern="0" spc="-29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kern="0" spc="22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2016</a:t>
            </a:r>
            <a:r>
              <a:rPr sz="2400" b="1" kern="0" spc="-36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kern="0" spc="22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8" name="picture 1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91668" y="766571"/>
            <a:ext cx="11800331" cy="71628"/>
          </a:xfrm>
          <a:prstGeom prst="rect">
            <a:avLst/>
          </a:prstGeom>
        </p:spPr>
      </p:pic>
      <p:sp>
        <p:nvSpPr>
          <p:cNvPr id="140" name="textbox 140"/>
          <p:cNvSpPr/>
          <p:nvPr/>
        </p:nvSpPr>
        <p:spPr>
          <a:xfrm>
            <a:off x="11872848" y="6617461"/>
            <a:ext cx="167639" cy="1600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3000"/>
              </a:lnSpc>
            </a:pPr>
            <a:r>
              <a:rPr sz="1200" kern="0" spc="-40" dirty="0">
                <a:solidFill>
                  <a:srgbClr val="89898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13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picture 1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605528" y="2805683"/>
            <a:ext cx="7441692" cy="3721608"/>
          </a:xfrm>
          <a:prstGeom prst="rect">
            <a:avLst/>
          </a:prstGeom>
        </p:spPr>
      </p:pic>
      <p:sp>
        <p:nvSpPr>
          <p:cNvPr id="144" name="textbox 144"/>
          <p:cNvSpPr/>
          <p:nvPr/>
        </p:nvSpPr>
        <p:spPr>
          <a:xfrm>
            <a:off x="333756" y="1252728"/>
            <a:ext cx="4223384" cy="5274945"/>
          </a:xfrm>
          <a:prstGeom prst="rect">
            <a:avLst/>
          </a:prstGeom>
          <a:solidFill>
            <a:srgbClr val="49989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89585" algn="l" rtl="0" eaLnBrk="0">
              <a:lnSpc>
                <a:spcPct val="97000"/>
              </a:lnSpc>
            </a:pPr>
            <a:r>
              <a:rPr sz="1800" kern="0" spc="-1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2017年门店销售成本相比2016年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94665" algn="l" rtl="0" eaLnBrk="0">
              <a:lnSpc>
                <a:spcPct val="98000"/>
              </a:lnSpc>
              <a:spcBef>
                <a:spcPts val="1450"/>
              </a:spcBef>
            </a:pPr>
            <a:r>
              <a:rPr sz="2400" b="1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同样整体下降</a:t>
            </a:r>
            <a:r>
              <a:rPr sz="18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2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78155" indent="635" algn="l" rtl="0" eaLnBrk="0">
              <a:lnSpc>
                <a:spcPct val="143000"/>
              </a:lnSpc>
              <a:spcBef>
                <a:spcPts val="540"/>
              </a:spcBef>
            </a:pPr>
            <a:r>
              <a:rPr sz="1800" kern="0" spc="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说明2017年中，由于</a:t>
            </a:r>
            <a:r>
              <a:rPr sz="1800" kern="0" spc="-1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一些原因</a:t>
            </a:r>
            <a:r>
              <a:rPr sz="1800" kern="0" spc="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所有门店在销售投入上也</a:t>
            </a:r>
            <a:r>
              <a:rPr sz="1800" kern="0" spc="-1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有所减         </a:t>
            </a:r>
            <a:r>
              <a:rPr sz="1800" kern="0" spc="-10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少。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89585" algn="l" rtl="0" eaLnBrk="0">
              <a:lnSpc>
                <a:spcPct val="97000"/>
              </a:lnSpc>
              <a:spcBef>
                <a:spcPts val="1135"/>
              </a:spcBef>
            </a:pPr>
            <a:r>
              <a:rPr sz="1800" kern="0" spc="-1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2017年5月，相比WDGC，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88315" algn="l" rtl="0" eaLnBrk="0">
              <a:lnSpc>
                <a:spcPct val="97000"/>
              </a:lnSpc>
              <a:spcBef>
                <a:spcPts val="1470"/>
              </a:spcBef>
            </a:pPr>
            <a:r>
              <a:rPr sz="2400" b="1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CDLG门店在销售成本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4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84505" algn="l" rtl="0" eaLnBrk="0">
              <a:lnSpc>
                <a:spcPct val="97000"/>
              </a:lnSpc>
            </a:pPr>
            <a:r>
              <a:rPr sz="24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上的减少要更多</a:t>
            </a:r>
            <a:r>
              <a:rPr sz="1800" kern="0" spc="-1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46" name="picture 1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631435" y="1277112"/>
            <a:ext cx="7388352" cy="1441703"/>
          </a:xfrm>
          <a:prstGeom prst="rect">
            <a:avLst/>
          </a:prstGeom>
        </p:spPr>
      </p:pic>
      <p:sp>
        <p:nvSpPr>
          <p:cNvPr id="148" name="textbox 148"/>
          <p:cNvSpPr/>
          <p:nvPr/>
        </p:nvSpPr>
        <p:spPr>
          <a:xfrm>
            <a:off x="420116" y="318033"/>
            <a:ext cx="5813425" cy="3797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2400" b="1" kern="0" spc="28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两门店销售额与销售成本同步同比下降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91668" y="766571"/>
            <a:ext cx="11800331" cy="71628"/>
          </a:xfrm>
          <a:prstGeom prst="rect">
            <a:avLst/>
          </a:prstGeom>
        </p:spPr>
      </p:pic>
      <p:sp>
        <p:nvSpPr>
          <p:cNvPr id="152" name="textbox 152"/>
          <p:cNvSpPr/>
          <p:nvPr/>
        </p:nvSpPr>
        <p:spPr>
          <a:xfrm>
            <a:off x="11872848" y="6618223"/>
            <a:ext cx="167639" cy="1593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3000"/>
              </a:lnSpc>
            </a:pPr>
            <a:r>
              <a:rPr sz="1200" kern="0" spc="-40" dirty="0">
                <a:solidFill>
                  <a:srgbClr val="89898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14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picture 1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713988" y="1656588"/>
            <a:ext cx="8436864" cy="4218432"/>
          </a:xfrm>
          <a:prstGeom prst="rect">
            <a:avLst/>
          </a:prstGeom>
        </p:spPr>
      </p:pic>
      <p:sp>
        <p:nvSpPr>
          <p:cNvPr id="156" name="textbox 156"/>
          <p:cNvSpPr/>
          <p:nvPr/>
        </p:nvSpPr>
        <p:spPr>
          <a:xfrm>
            <a:off x="333756" y="1693164"/>
            <a:ext cx="3380740" cy="4182109"/>
          </a:xfrm>
          <a:prstGeom prst="rect">
            <a:avLst/>
          </a:prstGeom>
          <a:solidFill>
            <a:srgbClr val="49989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12420" algn="l" rtl="0" eaLnBrk="0">
              <a:lnSpc>
                <a:spcPct val="97000"/>
              </a:lnSpc>
            </a:pPr>
            <a:r>
              <a:rPr sz="1800" kern="0" spc="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与2016年相比，</a:t>
            </a:r>
            <a:r>
              <a:rPr sz="1800" kern="0" spc="-1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两门店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11785" algn="l" rtl="0" eaLnBrk="0">
              <a:lnSpc>
                <a:spcPct val="97000"/>
              </a:lnSpc>
              <a:spcBef>
                <a:spcPts val="1450"/>
              </a:spcBef>
            </a:pPr>
            <a:r>
              <a:rPr sz="24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利润总额同比下降</a:t>
            </a:r>
            <a:r>
              <a:rPr sz="18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11150" algn="l" rtl="0" eaLnBrk="0">
              <a:lnSpc>
                <a:spcPct val="140000"/>
              </a:lnSpc>
              <a:spcBef>
                <a:spcPts val="545"/>
              </a:spcBef>
            </a:pPr>
            <a:r>
              <a:rPr sz="1800" kern="0" spc="-1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但从门店整年毛利率及月毛</a:t>
            </a:r>
            <a:r>
              <a:rPr sz="1800" kern="0" spc="1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sz="1800" kern="0" spc="-7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利率看：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1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16230" algn="l" rtl="0" eaLnBrk="0">
              <a:lnSpc>
                <a:spcPct val="97000"/>
              </a:lnSpc>
              <a:spcBef>
                <a:spcPts val="5"/>
              </a:spcBef>
            </a:pPr>
            <a:r>
              <a:rPr sz="24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两店利润率差别不大</a:t>
            </a:r>
            <a:r>
              <a:rPr sz="1800" kern="0" spc="-1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8" name="textbox 158"/>
          <p:cNvSpPr/>
          <p:nvPr/>
        </p:nvSpPr>
        <p:spPr>
          <a:xfrm>
            <a:off x="420116" y="318033"/>
            <a:ext cx="6445884" cy="3797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2400" b="1" kern="0" spc="20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两店利润额虽有下降，但利润</a:t>
            </a:r>
            <a:r>
              <a:rPr sz="2400" b="1" kern="0" spc="19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率变化不大。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60" name="picture 1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91668" y="766571"/>
            <a:ext cx="11800331" cy="71628"/>
          </a:xfrm>
          <a:prstGeom prst="rect">
            <a:avLst/>
          </a:prstGeom>
        </p:spPr>
      </p:pic>
      <p:graphicFrame>
        <p:nvGraphicFramePr>
          <p:cNvPr id="162" name="table 162"/>
          <p:cNvGraphicFramePr>
            <a:graphicFrameLocks noGrp="1"/>
          </p:cNvGraphicFramePr>
          <p:nvPr/>
        </p:nvGraphicFramePr>
        <p:xfrm>
          <a:off x="8314944" y="2276855"/>
          <a:ext cx="193040" cy="3242309"/>
        </p:xfrm>
        <a:graphic>
          <a:graphicData uri="http://schemas.openxmlformats.org/drawingml/2006/table">
            <a:tbl>
              <a:tblPr/>
              <a:tblGrid>
                <a:gridCol w="19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423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4" name="table 164"/>
          <p:cNvGraphicFramePr>
            <a:graphicFrameLocks noGrp="1"/>
          </p:cNvGraphicFramePr>
          <p:nvPr/>
        </p:nvGraphicFramePr>
        <p:xfrm>
          <a:off x="10158984" y="2276855"/>
          <a:ext cx="193040" cy="3242309"/>
        </p:xfrm>
        <a:graphic>
          <a:graphicData uri="http://schemas.openxmlformats.org/drawingml/2006/table">
            <a:tbl>
              <a:tblPr/>
              <a:tblGrid>
                <a:gridCol w="19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423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6" name="textbox 166"/>
          <p:cNvSpPr/>
          <p:nvPr/>
        </p:nvSpPr>
        <p:spPr>
          <a:xfrm>
            <a:off x="11872848" y="6618223"/>
            <a:ext cx="167639" cy="158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3000"/>
              </a:lnSpc>
            </a:pPr>
            <a:r>
              <a:rPr sz="1200" kern="0" spc="-40" dirty="0">
                <a:solidFill>
                  <a:srgbClr val="89898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15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picture 1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753611" y="1693164"/>
            <a:ext cx="8438388" cy="4218432"/>
          </a:xfrm>
          <a:prstGeom prst="rect">
            <a:avLst/>
          </a:prstGeom>
        </p:spPr>
      </p:pic>
      <p:sp>
        <p:nvSpPr>
          <p:cNvPr id="170" name="textbox 170"/>
          <p:cNvSpPr/>
          <p:nvPr/>
        </p:nvSpPr>
        <p:spPr>
          <a:xfrm>
            <a:off x="333756" y="1693164"/>
            <a:ext cx="3380740" cy="4182109"/>
          </a:xfrm>
          <a:prstGeom prst="rect">
            <a:avLst/>
          </a:prstGeom>
          <a:solidFill>
            <a:srgbClr val="49989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27660" indent="-15875" algn="l" rtl="0" eaLnBrk="0">
              <a:lnSpc>
                <a:spcPct val="139000"/>
              </a:lnSpc>
            </a:pPr>
            <a:r>
              <a:rPr sz="1800" kern="0" spc="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具体到两家门店2016-</a:t>
            </a:r>
            <a:r>
              <a:rPr sz="1800" kern="0" spc="-1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17年      </a:t>
            </a:r>
            <a:r>
              <a:rPr sz="1800" kern="0" spc="-6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5月份的销售情况，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12420" algn="l" rtl="0" eaLnBrk="0">
              <a:lnSpc>
                <a:spcPct val="97000"/>
              </a:lnSpc>
              <a:spcBef>
                <a:spcPts val="1455"/>
              </a:spcBef>
            </a:pPr>
            <a:r>
              <a:rPr sz="24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销售额及销售成本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27025" algn="l" rtl="0" eaLnBrk="0">
              <a:lnSpc>
                <a:spcPct val="97000"/>
              </a:lnSpc>
              <a:spcBef>
                <a:spcPts val="1530"/>
              </a:spcBef>
            </a:pPr>
            <a:r>
              <a:rPr sz="2400" b="1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同比下降</a:t>
            </a:r>
            <a:r>
              <a:rPr sz="18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11150" algn="l" rtl="0" eaLnBrk="0">
              <a:lnSpc>
                <a:spcPct val="98000"/>
              </a:lnSpc>
              <a:spcBef>
                <a:spcPts val="1210"/>
              </a:spcBef>
            </a:pPr>
            <a:r>
              <a:rPr sz="1800" kern="0" spc="-1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但毛利率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8000"/>
              </a:lnSpc>
            </a:pP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11785" algn="l" rtl="0" eaLnBrk="0">
              <a:lnSpc>
                <a:spcPct val="124000"/>
              </a:lnSpc>
            </a:pPr>
            <a:r>
              <a:rPr sz="24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仍与平均毛利率水平</a:t>
            </a:r>
            <a:r>
              <a:rPr sz="2400" b="1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2400" b="1" kern="0" spc="-1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相近。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2" name="textbox 172"/>
          <p:cNvSpPr/>
          <p:nvPr/>
        </p:nvSpPr>
        <p:spPr>
          <a:xfrm>
            <a:off x="420116" y="318033"/>
            <a:ext cx="8038465" cy="3797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2400" b="1" kern="0" spc="20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两门店5</a:t>
            </a:r>
            <a:r>
              <a:rPr sz="2400" b="1" kern="0" spc="-32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kern="0" spc="20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月销售情况虽同比下降，但利润率水平不变。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74" name="picture 17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91668" y="766571"/>
            <a:ext cx="11800331" cy="71628"/>
          </a:xfrm>
          <a:prstGeom prst="rect">
            <a:avLst/>
          </a:prstGeom>
        </p:spPr>
      </p:pic>
      <p:sp>
        <p:nvSpPr>
          <p:cNvPr id="176" name="textbox 176"/>
          <p:cNvSpPr/>
          <p:nvPr/>
        </p:nvSpPr>
        <p:spPr>
          <a:xfrm>
            <a:off x="11872848" y="6617461"/>
            <a:ext cx="167639" cy="1600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3000"/>
              </a:lnSpc>
            </a:pPr>
            <a:r>
              <a:rPr sz="1200" kern="0" spc="-40" dirty="0">
                <a:solidFill>
                  <a:srgbClr val="89898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16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picture 1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629911" y="1181100"/>
            <a:ext cx="7562088" cy="5420867"/>
          </a:xfrm>
          <a:prstGeom prst="rect">
            <a:avLst/>
          </a:prstGeom>
        </p:spPr>
      </p:pic>
      <p:sp>
        <p:nvSpPr>
          <p:cNvPr id="180" name="textbox 180"/>
          <p:cNvSpPr/>
          <p:nvPr/>
        </p:nvSpPr>
        <p:spPr>
          <a:xfrm>
            <a:off x="333756" y="1181100"/>
            <a:ext cx="4093845" cy="5311775"/>
          </a:xfrm>
          <a:prstGeom prst="rect">
            <a:avLst/>
          </a:prstGeom>
          <a:solidFill>
            <a:srgbClr val="49989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21945" algn="l" rtl="0" eaLnBrk="0">
              <a:lnSpc>
                <a:spcPct val="97000"/>
              </a:lnSpc>
              <a:spcBef>
                <a:spcPts val="5"/>
              </a:spcBef>
            </a:pPr>
            <a:r>
              <a:rPr sz="1800" kern="0" spc="-1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2017年5月两门店的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14325" algn="l" rtl="0" eaLnBrk="0">
              <a:lnSpc>
                <a:spcPct val="89000"/>
              </a:lnSpc>
              <a:spcBef>
                <a:spcPts val="1455"/>
              </a:spcBef>
            </a:pPr>
            <a:r>
              <a:rPr sz="24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订单量水平几近相同</a:t>
            </a:r>
            <a:r>
              <a:rPr sz="1800" kern="0" spc="-1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11150" algn="l" rtl="0" eaLnBrk="0">
              <a:lnSpc>
                <a:spcPts val="3365"/>
              </a:lnSpc>
            </a:pPr>
            <a:r>
              <a:rPr sz="1800" kern="0" spc="-1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但销售额及客单价方面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20675" algn="l" rtl="0" eaLnBrk="0">
              <a:lnSpc>
                <a:spcPct val="97000"/>
              </a:lnSpc>
              <a:spcBef>
                <a:spcPts val="1650"/>
              </a:spcBef>
            </a:pPr>
            <a:r>
              <a:rPr sz="2400" b="1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CDLG要低于WDGC。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11150" algn="l" rtl="0" eaLnBrk="0">
              <a:lnSpc>
                <a:spcPct val="97000"/>
              </a:lnSpc>
            </a:pPr>
            <a:r>
              <a:rPr sz="1800" kern="0" spc="-8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这种差异可能来源于门店运营自身。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2" name="textbox 182"/>
          <p:cNvSpPr/>
          <p:nvPr/>
        </p:nvSpPr>
        <p:spPr>
          <a:xfrm>
            <a:off x="440537" y="318033"/>
            <a:ext cx="8773159" cy="3816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2400" b="1" kern="0" spc="9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</a:t>
            </a:r>
            <a:r>
              <a:rPr sz="2400" b="1" kern="0" spc="-38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kern="0" spc="9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sz="2400" b="1" kern="0" spc="-21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kern="0" spc="9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sz="2400" b="1" kern="0" spc="-34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kern="0" spc="9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月，订单量相同情</a:t>
            </a:r>
            <a:r>
              <a:rPr sz="2400" b="1" kern="0" spc="8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况下，</a:t>
            </a:r>
            <a:r>
              <a:rPr sz="2400" b="1" kern="0" spc="30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400" b="1" kern="0" spc="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CD</a:t>
            </a:r>
            <a:r>
              <a:rPr sz="2400" b="1" kern="0" spc="-22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kern="0" spc="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LG</a:t>
            </a:r>
            <a:r>
              <a:rPr sz="2400" b="1" kern="0" spc="-37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kern="0" spc="8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销售情况要差</a:t>
            </a:r>
            <a:r>
              <a:rPr sz="2400" b="1" kern="0" spc="-35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kern="0" spc="8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</a:t>
            </a:r>
            <a:r>
              <a:rPr sz="2400" b="1" kern="0" spc="-37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kern="0" spc="8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些。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4" name="picture 18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91668" y="766571"/>
            <a:ext cx="11800331" cy="71628"/>
          </a:xfrm>
          <a:prstGeom prst="rect">
            <a:avLst/>
          </a:prstGeom>
        </p:spPr>
      </p:pic>
      <p:sp>
        <p:nvSpPr>
          <p:cNvPr id="186" name="textbox 186"/>
          <p:cNvSpPr/>
          <p:nvPr/>
        </p:nvSpPr>
        <p:spPr>
          <a:xfrm>
            <a:off x="11872848" y="6618223"/>
            <a:ext cx="167639" cy="1593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3000"/>
              </a:lnSpc>
            </a:pPr>
            <a:r>
              <a:rPr sz="1200" kern="0" spc="-40" dirty="0">
                <a:solidFill>
                  <a:srgbClr val="89898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17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picture 1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782311" y="1310640"/>
            <a:ext cx="7336535" cy="5081015"/>
          </a:xfrm>
          <a:prstGeom prst="rect">
            <a:avLst/>
          </a:prstGeom>
        </p:spPr>
      </p:pic>
      <p:sp>
        <p:nvSpPr>
          <p:cNvPr id="190" name="textbox 190"/>
          <p:cNvSpPr/>
          <p:nvPr/>
        </p:nvSpPr>
        <p:spPr>
          <a:xfrm>
            <a:off x="333756" y="1418843"/>
            <a:ext cx="4448809" cy="4834254"/>
          </a:xfrm>
          <a:prstGeom prst="rect">
            <a:avLst/>
          </a:prstGeom>
          <a:solidFill>
            <a:srgbClr val="49989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11150" algn="l" rtl="0" eaLnBrk="0">
              <a:lnSpc>
                <a:spcPct val="97000"/>
              </a:lnSpc>
            </a:pPr>
            <a:r>
              <a:rPr sz="1800" kern="0" spc="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订单流量相似的前提下</a:t>
            </a:r>
            <a:r>
              <a:rPr sz="1800" kern="0" spc="-1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，WDGC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12420" algn="l" rtl="0" eaLnBrk="0">
              <a:lnSpc>
                <a:spcPct val="97000"/>
              </a:lnSpc>
              <a:spcBef>
                <a:spcPts val="1470"/>
              </a:spcBef>
            </a:pPr>
            <a:r>
              <a:rPr sz="2400" b="1" kern="0" spc="-1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拥有更高的成交总额</a:t>
            </a:r>
            <a:r>
              <a:rPr sz="2400" b="1" kern="0" spc="-16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09880" algn="l" rtl="0" eaLnBrk="0">
              <a:lnSpc>
                <a:spcPct val="97000"/>
              </a:lnSpc>
              <a:spcBef>
                <a:spcPts val="1200"/>
              </a:spcBef>
            </a:pPr>
            <a:r>
              <a:rPr sz="1800" kern="0" spc="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原因可能来源于，W</a:t>
            </a:r>
            <a:r>
              <a:rPr sz="1800" kern="0" spc="-1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DGC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11785" algn="l" rtl="0" eaLnBrk="0">
              <a:lnSpc>
                <a:spcPct val="97000"/>
              </a:lnSpc>
              <a:spcBef>
                <a:spcPts val="1465"/>
              </a:spcBef>
            </a:pPr>
            <a:r>
              <a:rPr sz="24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顾客购买力更强，</a:t>
            </a:r>
            <a:r>
              <a:rPr sz="1800" kern="0" spc="-1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6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11785" algn="l" rtl="0" eaLnBrk="0">
              <a:lnSpc>
                <a:spcPct val="97000"/>
              </a:lnSpc>
              <a:spcBef>
                <a:spcPts val="0"/>
              </a:spcBef>
            </a:pPr>
            <a:r>
              <a:rPr sz="2400" b="1" kern="0" spc="-1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顾客平均价值产出更高。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2" name="textbox 192"/>
          <p:cNvSpPr/>
          <p:nvPr/>
        </p:nvSpPr>
        <p:spPr>
          <a:xfrm>
            <a:off x="440537" y="318033"/>
            <a:ext cx="6214745" cy="3797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2400" b="1" kern="0" spc="15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</a:t>
            </a:r>
            <a:r>
              <a:rPr sz="2400" b="1" kern="0" spc="-38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kern="0" spc="15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sz="2400" b="1" kern="0" spc="-21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kern="0" spc="15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sz="2400" b="1" kern="0" spc="-34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kern="0" spc="15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月，</a:t>
            </a:r>
            <a:r>
              <a:rPr sz="2400" b="1" kern="0" spc="-18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kern="0" spc="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WD</a:t>
            </a:r>
            <a:r>
              <a:rPr sz="2400" b="1" kern="0" spc="-32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kern="0" spc="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GC</a:t>
            </a:r>
            <a:r>
              <a:rPr sz="2400" b="1" kern="0" spc="-37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kern="0" spc="15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相比</a:t>
            </a:r>
            <a:r>
              <a:rPr sz="2400" b="1" kern="0" spc="-32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kern="0" spc="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CD</a:t>
            </a:r>
            <a:r>
              <a:rPr sz="2400" b="1" kern="0" spc="-22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kern="0" spc="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LG</a:t>
            </a:r>
            <a:r>
              <a:rPr sz="2400" b="1" kern="0" spc="-37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kern="0" spc="15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客单价更</a:t>
            </a:r>
            <a:r>
              <a:rPr sz="2400" b="1" kern="0" spc="14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94" name="picture 19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91668" y="766571"/>
            <a:ext cx="11800331" cy="71628"/>
          </a:xfrm>
          <a:prstGeom prst="rect">
            <a:avLst/>
          </a:prstGeom>
        </p:spPr>
      </p:pic>
      <p:sp>
        <p:nvSpPr>
          <p:cNvPr id="196" name="textbox 196"/>
          <p:cNvSpPr/>
          <p:nvPr/>
        </p:nvSpPr>
        <p:spPr>
          <a:xfrm>
            <a:off x="11872848" y="6617461"/>
            <a:ext cx="167639" cy="1600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3000"/>
              </a:lnSpc>
            </a:pPr>
            <a:r>
              <a:rPr sz="1200" kern="0" spc="-40" dirty="0">
                <a:solidFill>
                  <a:srgbClr val="89898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18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8" name="table 198"/>
          <p:cNvGraphicFramePr>
            <a:graphicFrameLocks noGrp="1"/>
          </p:cNvGraphicFramePr>
          <p:nvPr/>
        </p:nvGraphicFramePr>
        <p:xfrm>
          <a:off x="4561332" y="1501140"/>
          <a:ext cx="7500619" cy="4534534"/>
        </p:xfrm>
        <a:graphic>
          <a:graphicData uri="http://schemas.openxmlformats.org/drawingml/2006/table">
            <a:tbl>
              <a:tblPr/>
              <a:tblGrid>
                <a:gridCol w="75006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3453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499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99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99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99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00" name="picture 2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570475" y="1510283"/>
            <a:ext cx="7482839" cy="4523232"/>
          </a:xfrm>
          <a:prstGeom prst="rect">
            <a:avLst/>
          </a:prstGeom>
        </p:spPr>
      </p:pic>
      <p:sp>
        <p:nvSpPr>
          <p:cNvPr id="202" name="textbox 202"/>
          <p:cNvSpPr/>
          <p:nvPr/>
        </p:nvSpPr>
        <p:spPr>
          <a:xfrm>
            <a:off x="333756" y="1510283"/>
            <a:ext cx="4093845" cy="4523740"/>
          </a:xfrm>
          <a:prstGeom prst="rect">
            <a:avLst/>
          </a:prstGeom>
          <a:solidFill>
            <a:srgbClr val="49989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14325" algn="l" rtl="0" eaLnBrk="0">
              <a:lnSpc>
                <a:spcPct val="97000"/>
              </a:lnSpc>
            </a:pPr>
            <a:r>
              <a:rPr sz="1800" kern="0" spc="-1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两店相比，WDGC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13055" algn="l" rtl="0" eaLnBrk="0">
              <a:lnSpc>
                <a:spcPct val="97000"/>
              </a:lnSpc>
              <a:spcBef>
                <a:spcPts val="1470"/>
              </a:spcBef>
            </a:pPr>
            <a:r>
              <a:rPr sz="2400" b="1" kern="0" spc="-17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存货占用水平更低，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12420" algn="l" rtl="0" eaLnBrk="0">
              <a:lnSpc>
                <a:spcPts val="2795"/>
              </a:lnSpc>
              <a:spcBef>
                <a:spcPts val="1520"/>
              </a:spcBef>
            </a:pPr>
            <a:r>
              <a:rPr sz="2300" b="1" kern="0" spc="-1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流动性更高，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6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12420" algn="l" rtl="0" eaLnBrk="0">
              <a:lnSpc>
                <a:spcPct val="97000"/>
              </a:lnSpc>
              <a:spcBef>
                <a:spcPts val="0"/>
              </a:spcBef>
            </a:pPr>
            <a:r>
              <a:rPr sz="2400" b="1" kern="0" spc="-2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变现能力更强。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4" name="textbox 204"/>
          <p:cNvSpPr/>
          <p:nvPr/>
        </p:nvSpPr>
        <p:spPr>
          <a:xfrm>
            <a:off x="440537" y="318033"/>
            <a:ext cx="6900544" cy="3797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2400" b="1" kern="0" spc="17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</a:t>
            </a:r>
            <a:r>
              <a:rPr sz="2400" b="1" kern="0" spc="-37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kern="0" spc="17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sz="2400" b="1" kern="0" spc="-22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kern="0" spc="17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sz="2400" b="1" kern="0" spc="-33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kern="0" spc="17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月，</a:t>
            </a:r>
            <a:r>
              <a:rPr sz="2400" b="1" kern="0" spc="-18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kern="0" spc="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WD</a:t>
            </a:r>
            <a:r>
              <a:rPr sz="2400" b="1" kern="0" spc="-32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kern="0" spc="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GC</a:t>
            </a:r>
            <a:r>
              <a:rPr sz="2400" b="1" kern="0" spc="-38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kern="0" spc="17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相比</a:t>
            </a:r>
            <a:r>
              <a:rPr sz="2400" b="1" kern="0" spc="-32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kern="0" spc="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CD</a:t>
            </a:r>
            <a:r>
              <a:rPr sz="2400" b="1" kern="0" spc="-21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kern="0" spc="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LG</a:t>
            </a:r>
            <a:r>
              <a:rPr sz="2400" b="1" kern="0" spc="-37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kern="0" spc="17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存货周转率</a:t>
            </a:r>
            <a:r>
              <a:rPr sz="2400" b="1" kern="0" spc="16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更高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06" name="picture 2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91668" y="766571"/>
            <a:ext cx="11800331" cy="71628"/>
          </a:xfrm>
          <a:prstGeom prst="rect">
            <a:avLst/>
          </a:prstGeom>
        </p:spPr>
      </p:pic>
      <p:sp>
        <p:nvSpPr>
          <p:cNvPr id="208" name="textbox 208"/>
          <p:cNvSpPr/>
          <p:nvPr/>
        </p:nvSpPr>
        <p:spPr>
          <a:xfrm>
            <a:off x="11872848" y="6617461"/>
            <a:ext cx="167639" cy="1600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3000"/>
              </a:lnSpc>
            </a:pPr>
            <a:r>
              <a:rPr sz="1200" kern="0" spc="-40" dirty="0">
                <a:solidFill>
                  <a:srgbClr val="89898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19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8"/>
          <p:cNvGrpSpPr/>
          <p:nvPr/>
        </p:nvGrpSpPr>
        <p:grpSpPr>
          <a:xfrm rot="21600000">
            <a:off x="8618219" y="1909571"/>
            <a:ext cx="2427732" cy="2429256"/>
            <a:chOff x="0" y="0"/>
            <a:chExt cx="2427732" cy="2429256"/>
          </a:xfrm>
        </p:grpSpPr>
        <p:sp>
          <p:nvSpPr>
            <p:cNvPr id="210" name="path 210"/>
            <p:cNvSpPr/>
            <p:nvPr/>
          </p:nvSpPr>
          <p:spPr>
            <a:xfrm>
              <a:off x="0" y="0"/>
              <a:ext cx="2427732" cy="2429256"/>
            </a:xfrm>
            <a:custGeom>
              <a:avLst/>
              <a:gdLst/>
              <a:ahLst/>
              <a:cxnLst/>
              <a:rect l="0" t="0" r="0" b="0"/>
              <a:pathLst>
                <a:path w="3823" h="3825">
                  <a:moveTo>
                    <a:pt x="0" y="1912"/>
                  </a:moveTo>
                  <a:cubicBezTo>
                    <a:pt x="0" y="856"/>
                    <a:pt x="855" y="0"/>
                    <a:pt x="1911" y="0"/>
                  </a:cubicBezTo>
                  <a:cubicBezTo>
                    <a:pt x="2967" y="0"/>
                    <a:pt x="3823" y="856"/>
                    <a:pt x="3823" y="1912"/>
                  </a:cubicBezTo>
                  <a:cubicBezTo>
                    <a:pt x="3823" y="2969"/>
                    <a:pt x="2967" y="3825"/>
                    <a:pt x="1911" y="3825"/>
                  </a:cubicBezTo>
                  <a:cubicBezTo>
                    <a:pt x="855" y="3825"/>
                    <a:pt x="0" y="2969"/>
                    <a:pt x="0" y="1912"/>
                  </a:cubicBezTo>
                </a:path>
              </a:pathLst>
            </a:custGeom>
            <a:solidFill>
              <a:srgbClr val="49989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12" name="textbox 212"/>
            <p:cNvSpPr/>
            <p:nvPr/>
          </p:nvSpPr>
          <p:spPr>
            <a:xfrm>
              <a:off x="-12700" y="-12700"/>
              <a:ext cx="2453639" cy="249427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6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842645" indent="-396875" algn="l" rtl="0" eaLnBrk="0">
                <a:lnSpc>
                  <a:spcPct val="103000"/>
                </a:lnSpc>
              </a:pPr>
              <a:r>
                <a:rPr sz="2700" b="1" kern="0" spc="30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销售提升</a:t>
              </a:r>
              <a:r>
                <a:rPr sz="2700" b="1" kern="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 </a:t>
              </a:r>
              <a:r>
                <a:rPr sz="2700" b="1" kern="0" spc="20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可能</a:t>
              </a:r>
              <a:endParaRPr sz="2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 rot="21600000">
            <a:off x="1219200" y="1909571"/>
            <a:ext cx="2427732" cy="2429256"/>
            <a:chOff x="0" y="0"/>
            <a:chExt cx="2427732" cy="2429256"/>
          </a:xfrm>
        </p:grpSpPr>
        <p:sp>
          <p:nvSpPr>
            <p:cNvPr id="214" name="path 214"/>
            <p:cNvSpPr/>
            <p:nvPr/>
          </p:nvSpPr>
          <p:spPr>
            <a:xfrm>
              <a:off x="0" y="0"/>
              <a:ext cx="2427732" cy="2429256"/>
            </a:xfrm>
            <a:custGeom>
              <a:avLst/>
              <a:gdLst/>
              <a:ahLst/>
              <a:cxnLst/>
              <a:rect l="0" t="0" r="0" b="0"/>
              <a:pathLst>
                <a:path w="3823" h="3825">
                  <a:moveTo>
                    <a:pt x="0" y="1912"/>
                  </a:moveTo>
                  <a:cubicBezTo>
                    <a:pt x="0" y="856"/>
                    <a:pt x="855" y="0"/>
                    <a:pt x="1911" y="0"/>
                  </a:cubicBezTo>
                  <a:cubicBezTo>
                    <a:pt x="2967" y="0"/>
                    <a:pt x="3823" y="856"/>
                    <a:pt x="3823" y="1912"/>
                  </a:cubicBezTo>
                  <a:cubicBezTo>
                    <a:pt x="3823" y="2969"/>
                    <a:pt x="2967" y="3825"/>
                    <a:pt x="1911" y="3825"/>
                  </a:cubicBezTo>
                  <a:cubicBezTo>
                    <a:pt x="855" y="3825"/>
                    <a:pt x="0" y="2969"/>
                    <a:pt x="0" y="1912"/>
                  </a:cubicBezTo>
                </a:path>
              </a:pathLst>
            </a:custGeom>
            <a:solidFill>
              <a:srgbClr val="49989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16" name="textbox 216"/>
            <p:cNvSpPr/>
            <p:nvPr/>
          </p:nvSpPr>
          <p:spPr>
            <a:xfrm>
              <a:off x="-12700" y="-12700"/>
              <a:ext cx="2453639" cy="249301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842645" indent="-389890" algn="l" rtl="0" eaLnBrk="0">
                <a:lnSpc>
                  <a:spcPct val="102000"/>
                </a:lnSpc>
                <a:spcBef>
                  <a:spcPts val="0"/>
                </a:spcBef>
              </a:pPr>
              <a:r>
                <a:rPr sz="2700" b="1" kern="0" spc="29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市场经济</a:t>
              </a:r>
              <a:r>
                <a:rPr sz="2700" b="1" kern="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 </a:t>
              </a:r>
              <a:r>
                <a:rPr sz="2700" b="1" kern="0" spc="20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下行</a:t>
              </a:r>
              <a:endParaRPr sz="2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 rot="21600000">
            <a:off x="4917948" y="1909571"/>
            <a:ext cx="2427732" cy="2429256"/>
            <a:chOff x="0" y="0"/>
            <a:chExt cx="2427732" cy="2429256"/>
          </a:xfrm>
        </p:grpSpPr>
        <p:sp>
          <p:nvSpPr>
            <p:cNvPr id="218" name="path 218"/>
            <p:cNvSpPr/>
            <p:nvPr/>
          </p:nvSpPr>
          <p:spPr>
            <a:xfrm>
              <a:off x="0" y="0"/>
              <a:ext cx="2427732" cy="2429256"/>
            </a:xfrm>
            <a:custGeom>
              <a:avLst/>
              <a:gdLst/>
              <a:ahLst/>
              <a:cxnLst/>
              <a:rect l="0" t="0" r="0" b="0"/>
              <a:pathLst>
                <a:path w="3823" h="3825">
                  <a:moveTo>
                    <a:pt x="0" y="1912"/>
                  </a:moveTo>
                  <a:cubicBezTo>
                    <a:pt x="0" y="856"/>
                    <a:pt x="855" y="0"/>
                    <a:pt x="1911" y="0"/>
                  </a:cubicBezTo>
                  <a:cubicBezTo>
                    <a:pt x="2967" y="0"/>
                    <a:pt x="3823" y="856"/>
                    <a:pt x="3823" y="1912"/>
                  </a:cubicBezTo>
                  <a:cubicBezTo>
                    <a:pt x="3823" y="2969"/>
                    <a:pt x="2967" y="3825"/>
                    <a:pt x="1911" y="3825"/>
                  </a:cubicBezTo>
                  <a:cubicBezTo>
                    <a:pt x="855" y="3825"/>
                    <a:pt x="0" y="2969"/>
                    <a:pt x="0" y="1912"/>
                  </a:cubicBezTo>
                </a:path>
              </a:pathLst>
            </a:custGeom>
            <a:solidFill>
              <a:srgbClr val="49989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20" name="textbox 220"/>
            <p:cNvSpPr/>
            <p:nvPr/>
          </p:nvSpPr>
          <p:spPr>
            <a:xfrm>
              <a:off x="-12700" y="-12700"/>
              <a:ext cx="2453639" cy="249047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678180" algn="l" rtl="0" eaLnBrk="0">
                <a:lnSpc>
                  <a:spcPct val="86000"/>
                </a:lnSpc>
                <a:spcBef>
                  <a:spcPts val="5"/>
                </a:spcBef>
              </a:pPr>
              <a:r>
                <a:rPr sz="2700" b="1" kern="0" spc="10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CD</a:t>
              </a:r>
              <a:r>
                <a:rPr sz="2700" b="1" kern="0" spc="-26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2700" b="1" kern="0" spc="10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LG</a:t>
              </a:r>
              <a:endParaRPr sz="2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249555" algn="l" rtl="0" eaLnBrk="0">
                <a:lnSpc>
                  <a:spcPts val="3260"/>
                </a:lnSpc>
                <a:spcBef>
                  <a:spcPts val="440"/>
                </a:spcBef>
              </a:pPr>
              <a:r>
                <a:rPr sz="2700" b="1" kern="0" spc="32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运营需增强</a:t>
              </a:r>
              <a:endParaRPr sz="2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222" name="textbox 222"/>
          <p:cNvSpPr/>
          <p:nvPr/>
        </p:nvSpPr>
        <p:spPr>
          <a:xfrm>
            <a:off x="1108775" y="4988783"/>
            <a:ext cx="2655570" cy="11944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0320" algn="l" rtl="0" eaLnBrk="0">
              <a:lnSpc>
                <a:spcPct val="87000"/>
              </a:lnSpc>
            </a:pPr>
            <a:r>
              <a:rPr sz="1400" kern="0" spc="7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整体销量下降暗示整体市场经济</a:t>
            </a:r>
            <a:endParaRPr sz="14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12700" indent="7620" algn="l" rtl="0" eaLnBrk="0">
              <a:lnSpc>
                <a:spcPct val="153000"/>
              </a:lnSpc>
              <a:spcBef>
                <a:spcPts val="30"/>
              </a:spcBef>
            </a:pPr>
            <a:r>
              <a:rPr sz="1400" kern="0" spc="4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下行</a:t>
            </a:r>
            <a:r>
              <a:rPr sz="1400" kern="0" spc="-9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400" kern="0" spc="4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，</a:t>
            </a:r>
            <a:r>
              <a:rPr sz="1400" kern="0" spc="-22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400" kern="0" spc="4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然而相似订单量下销售额</a:t>
            </a:r>
            <a:r>
              <a:rPr sz="1400" kern="0" spc="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400" kern="0" spc="4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差异表示</a:t>
            </a:r>
            <a:r>
              <a:rPr sz="1400" kern="0" spc="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CDLG</a:t>
            </a:r>
            <a:r>
              <a:rPr sz="1400" kern="0" spc="4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存在独立的</a:t>
            </a:r>
            <a:r>
              <a:rPr sz="1400" kern="0" spc="3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运营问</a:t>
            </a:r>
            <a:r>
              <a:rPr sz="1400" kern="0" spc="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400" kern="0" spc="-3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题。</a:t>
            </a:r>
            <a:endParaRPr sz="14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24" name="textbox 224"/>
          <p:cNvSpPr/>
          <p:nvPr/>
        </p:nvSpPr>
        <p:spPr>
          <a:xfrm>
            <a:off x="4809456" y="4988783"/>
            <a:ext cx="2654935" cy="866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400" kern="0" spc="4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参照</a:t>
            </a:r>
            <a:r>
              <a:rPr sz="1400" kern="0" spc="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WDGC</a:t>
            </a:r>
            <a:r>
              <a:rPr sz="1400" kern="0" spc="4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的销售表现，</a:t>
            </a:r>
            <a:r>
              <a:rPr sz="1400" kern="0" spc="-18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400" kern="0" spc="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CDLG</a:t>
            </a:r>
            <a:r>
              <a:rPr sz="1400" kern="0" spc="4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需</a:t>
            </a:r>
            <a:endParaRPr sz="14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16510" indent="-635" algn="l" rtl="0" eaLnBrk="0">
              <a:lnSpc>
                <a:spcPct val="153000"/>
              </a:lnSpc>
              <a:spcBef>
                <a:spcPts val="20"/>
              </a:spcBef>
            </a:pPr>
            <a:r>
              <a:rPr sz="1400" kern="0" spc="4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增强寻找问题存在的原因</a:t>
            </a:r>
            <a:r>
              <a:rPr sz="1400" kern="0" spc="-8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400" kern="0" spc="4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，</a:t>
            </a:r>
            <a:r>
              <a:rPr sz="1400" kern="0" spc="-20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400" kern="0" spc="4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并增</a:t>
            </a:r>
            <a:r>
              <a:rPr sz="1400" kern="0" spc="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400" kern="0" spc="-2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强销售表现。</a:t>
            </a:r>
            <a:endParaRPr sz="14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26" name="textbox 226"/>
          <p:cNvSpPr/>
          <p:nvPr/>
        </p:nvSpPr>
        <p:spPr>
          <a:xfrm>
            <a:off x="8509220" y="4988783"/>
            <a:ext cx="2654935" cy="866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400" kern="0" spc="11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参照</a:t>
            </a:r>
            <a:r>
              <a:rPr sz="1400" kern="0" spc="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WDGC</a:t>
            </a:r>
            <a:r>
              <a:rPr sz="1400" kern="0" spc="11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的销售表现及销售数</a:t>
            </a:r>
            <a:endParaRPr sz="14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30480" indent="-16510" algn="l" rtl="0" eaLnBrk="0">
              <a:lnSpc>
                <a:spcPct val="153000"/>
              </a:lnSpc>
              <a:spcBef>
                <a:spcPts val="20"/>
              </a:spcBef>
            </a:pPr>
            <a:r>
              <a:rPr sz="1400" kern="0" spc="4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据指标的解析</a:t>
            </a:r>
            <a:r>
              <a:rPr sz="1400" kern="0" spc="-4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400" kern="0" spc="4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，</a:t>
            </a:r>
            <a:r>
              <a:rPr sz="1400" kern="0" spc="-23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400" kern="0" spc="4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寻找是否可以帮</a:t>
            </a:r>
            <a:r>
              <a:rPr sz="1400" kern="0" spc="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400" kern="0" spc="-2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门店进一步提升销售的可能。</a:t>
            </a:r>
            <a:endParaRPr sz="14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28" name="textbox 228"/>
          <p:cNvSpPr/>
          <p:nvPr/>
        </p:nvSpPr>
        <p:spPr>
          <a:xfrm>
            <a:off x="430174" y="318033"/>
            <a:ext cx="4476750" cy="3816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2400" b="1" kern="0" spc="24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门店销售情况分析小结——</a:t>
            </a:r>
            <a:r>
              <a:rPr sz="2400" b="1" kern="0" spc="-35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kern="0" spc="24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30" name="picture 2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91668" y="766571"/>
            <a:ext cx="11800331" cy="71628"/>
          </a:xfrm>
          <a:prstGeom prst="rect">
            <a:avLst/>
          </a:prstGeom>
        </p:spPr>
      </p:pic>
      <p:sp>
        <p:nvSpPr>
          <p:cNvPr id="232" name="textbox 232"/>
          <p:cNvSpPr/>
          <p:nvPr/>
        </p:nvSpPr>
        <p:spPr>
          <a:xfrm>
            <a:off x="11868429" y="6617461"/>
            <a:ext cx="172085" cy="1600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3000"/>
              </a:lnSpc>
            </a:pPr>
            <a:r>
              <a:rPr sz="1200" kern="0" spc="-30" dirty="0">
                <a:solidFill>
                  <a:srgbClr val="89898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20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textbox 234"/>
          <p:cNvSpPr/>
          <p:nvPr/>
        </p:nvSpPr>
        <p:spPr>
          <a:xfrm>
            <a:off x="5467391" y="3600418"/>
            <a:ext cx="1214755" cy="3225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</a:pPr>
            <a:r>
              <a:rPr sz="2000" kern="0" spc="34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因素分析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6" name="textbox 236"/>
          <p:cNvSpPr/>
          <p:nvPr/>
        </p:nvSpPr>
        <p:spPr>
          <a:xfrm>
            <a:off x="5881873" y="2847555"/>
            <a:ext cx="374015" cy="4400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3265"/>
              </a:lnSpc>
            </a:pPr>
            <a:r>
              <a:rPr sz="2700" b="1" kern="0" spc="3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货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8" name="path 238"/>
          <p:cNvSpPr/>
          <p:nvPr/>
        </p:nvSpPr>
        <p:spPr>
          <a:xfrm>
            <a:off x="5459729" y="3380232"/>
            <a:ext cx="1179067" cy="22859"/>
          </a:xfrm>
          <a:custGeom>
            <a:avLst/>
            <a:gdLst/>
            <a:ahLst/>
            <a:cxnLst/>
            <a:rect l="0" t="0" r="0" b="0"/>
            <a:pathLst>
              <a:path w="1856" h="35">
                <a:moveTo>
                  <a:pt x="0" y="17"/>
                </a:moveTo>
                <a:lnTo>
                  <a:pt x="1856" y="17"/>
                </a:lnTo>
              </a:path>
            </a:pathLst>
          </a:custGeom>
          <a:noFill/>
          <a:ln w="22859" cap="flat">
            <a:solidFill>
              <a:srgbClr val="224644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40" name="textbox 240"/>
          <p:cNvSpPr/>
          <p:nvPr/>
        </p:nvSpPr>
        <p:spPr>
          <a:xfrm>
            <a:off x="11868429" y="6617461"/>
            <a:ext cx="172085" cy="1600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3000"/>
              </a:lnSpc>
            </a:pPr>
            <a:r>
              <a:rPr sz="1200" kern="0" spc="-30" dirty="0">
                <a:solidFill>
                  <a:srgbClr val="89898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21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picture 2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160263" y="1051560"/>
            <a:ext cx="6958584" cy="5567171"/>
          </a:xfrm>
          <a:prstGeom prst="rect">
            <a:avLst/>
          </a:prstGeom>
        </p:spPr>
      </p:pic>
      <p:sp>
        <p:nvSpPr>
          <p:cNvPr id="244" name="textbox 244"/>
          <p:cNvSpPr/>
          <p:nvPr/>
        </p:nvSpPr>
        <p:spPr>
          <a:xfrm>
            <a:off x="333756" y="1146047"/>
            <a:ext cx="4691379" cy="5400040"/>
          </a:xfrm>
          <a:prstGeom prst="rect">
            <a:avLst/>
          </a:prstGeom>
          <a:solidFill>
            <a:srgbClr val="49989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11785" algn="l" rtl="0" eaLnBrk="0">
              <a:lnSpc>
                <a:spcPct val="97000"/>
              </a:lnSpc>
              <a:spcBef>
                <a:spcPts val="0"/>
              </a:spcBef>
            </a:pPr>
            <a:r>
              <a:rPr sz="1800" kern="0" spc="-8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根据门店日销售额及周销售额情况，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11150" algn="l" rtl="0" eaLnBrk="0">
              <a:lnSpc>
                <a:spcPct val="97000"/>
              </a:lnSpc>
              <a:spcBef>
                <a:spcPts val="1465"/>
              </a:spcBef>
            </a:pPr>
            <a:r>
              <a:rPr sz="24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WDGC销售业绩强于CDLG</a:t>
            </a:r>
            <a:r>
              <a:rPr sz="18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28930" indent="-1270" algn="l" rtl="0" eaLnBrk="0">
              <a:lnSpc>
                <a:spcPct val="150000"/>
              </a:lnSpc>
              <a:spcBef>
                <a:spcPts val="5"/>
              </a:spcBef>
            </a:pPr>
            <a:r>
              <a:rPr sz="1800" kern="0" spc="-1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5月25日有一次显著异常销售额，需找</a:t>
            </a:r>
            <a:r>
              <a:rPr sz="1800" kern="0" spc="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</a:t>
            </a:r>
            <a:r>
              <a:rPr sz="1800" kern="0" spc="-2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</a:t>
            </a:r>
            <a:r>
              <a:rPr sz="2400" b="1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异常原因，疑似促销事件</a:t>
            </a:r>
            <a:r>
              <a:rPr sz="1800" kern="0" spc="-2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10515" algn="l" rtl="0" eaLnBrk="0">
              <a:lnSpc>
                <a:spcPct val="97000"/>
              </a:lnSpc>
              <a:spcBef>
                <a:spcPts val="1210"/>
              </a:spcBef>
            </a:pPr>
            <a:r>
              <a:rPr sz="1800" kern="0" spc="-7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周销方面可看到，最佳提升销售时间为：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2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10515" algn="l" rtl="0" eaLnBrk="0">
              <a:lnSpc>
                <a:spcPct val="122000"/>
              </a:lnSpc>
            </a:pPr>
            <a:r>
              <a:rPr sz="24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周初（周一至周二）</a:t>
            </a:r>
            <a:r>
              <a:rPr sz="24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</a:t>
            </a:r>
            <a:r>
              <a:rPr sz="2400" b="1" kern="0" spc="-18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周末（周五至周日）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6" name="textbox 246"/>
          <p:cNvSpPr/>
          <p:nvPr/>
        </p:nvSpPr>
        <p:spPr>
          <a:xfrm>
            <a:off x="415239" y="318033"/>
            <a:ext cx="8002905" cy="380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2400" b="1" kern="0" spc="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WD</a:t>
            </a:r>
            <a:r>
              <a:rPr sz="2400" b="1" kern="0" spc="-33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kern="0" spc="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GC</a:t>
            </a:r>
            <a:r>
              <a:rPr sz="2400" b="1" kern="0" spc="-38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kern="0" spc="31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拥有更强销售能力，周初周末</a:t>
            </a:r>
            <a:r>
              <a:rPr sz="2400" b="1" kern="0" spc="30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为销售提升机遇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48" name="picture 2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91668" y="766571"/>
            <a:ext cx="11800331" cy="71628"/>
          </a:xfrm>
          <a:prstGeom prst="rect">
            <a:avLst/>
          </a:prstGeom>
        </p:spPr>
      </p:pic>
      <p:sp>
        <p:nvSpPr>
          <p:cNvPr id="250" name="textbox 250"/>
          <p:cNvSpPr/>
          <p:nvPr/>
        </p:nvSpPr>
        <p:spPr>
          <a:xfrm>
            <a:off x="11868429" y="6617461"/>
            <a:ext cx="172085" cy="1600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3000"/>
              </a:lnSpc>
            </a:pPr>
            <a:r>
              <a:rPr sz="1200" kern="0" spc="-30" dirty="0">
                <a:solidFill>
                  <a:srgbClr val="89898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22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picture 2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713988" y="1610868"/>
            <a:ext cx="8478011" cy="4608575"/>
          </a:xfrm>
          <a:prstGeom prst="rect">
            <a:avLst/>
          </a:prstGeom>
        </p:spPr>
      </p:pic>
      <p:sp>
        <p:nvSpPr>
          <p:cNvPr id="254" name="textbox 254"/>
          <p:cNvSpPr/>
          <p:nvPr/>
        </p:nvSpPr>
        <p:spPr>
          <a:xfrm>
            <a:off x="333756" y="1693164"/>
            <a:ext cx="3380740" cy="4526279"/>
          </a:xfrm>
          <a:prstGeom prst="rect">
            <a:avLst/>
          </a:prstGeom>
          <a:solidFill>
            <a:srgbClr val="49989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28930" algn="l" rtl="0" eaLnBrk="0">
              <a:lnSpc>
                <a:spcPct val="97000"/>
              </a:lnSpc>
            </a:pPr>
            <a:r>
              <a:rPr sz="1800" kern="0" spc="-11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门店销量最高商品结构上，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11150" algn="l" rtl="0" eaLnBrk="0">
              <a:lnSpc>
                <a:spcPct val="97000"/>
              </a:lnSpc>
              <a:spcBef>
                <a:spcPts val="1465"/>
              </a:spcBef>
            </a:pPr>
            <a:r>
              <a:rPr sz="24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WDGC商品丰富度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14960" algn="l" rtl="0" eaLnBrk="0">
              <a:lnSpc>
                <a:spcPct val="98000"/>
              </a:lnSpc>
              <a:spcBef>
                <a:spcPts val="1525"/>
              </a:spcBef>
            </a:pPr>
            <a:r>
              <a:rPr sz="2400" b="1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高于CDLG</a:t>
            </a:r>
            <a:r>
              <a:rPr sz="1800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19405" indent="-8255" algn="l" rtl="0" eaLnBrk="0">
              <a:lnSpc>
                <a:spcPct val="133000"/>
              </a:lnSpc>
              <a:spcBef>
                <a:spcPts val="565"/>
              </a:spcBef>
            </a:pPr>
            <a:r>
              <a:rPr sz="1800" kern="0" spc="-1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在销售商品品类对比中，</a:t>
            </a:r>
            <a:r>
              <a:rPr sz="1800" kern="0" spc="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</a:t>
            </a:r>
            <a:r>
              <a:rPr sz="1800" kern="0" spc="-3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CDLG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1000"/>
              </a:lnSpc>
            </a:pP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13055" algn="l" rtl="0" eaLnBrk="0">
              <a:lnSpc>
                <a:spcPct val="132000"/>
              </a:lnSpc>
            </a:pPr>
            <a:r>
              <a:rPr sz="24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最高销量商品品类与</a:t>
            </a:r>
            <a:r>
              <a:rPr sz="24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24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最高销售额品类有差</a:t>
            </a:r>
            <a:r>
              <a:rPr sz="24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2400" b="1" kern="0" spc="-1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异。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6" name="textbox 256"/>
          <p:cNvSpPr/>
          <p:nvPr/>
        </p:nvSpPr>
        <p:spPr>
          <a:xfrm>
            <a:off x="424688" y="318033"/>
            <a:ext cx="10511790" cy="381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2400" b="1" kern="0" spc="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CD</a:t>
            </a:r>
            <a:r>
              <a:rPr sz="2400" b="1" kern="0" spc="-21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kern="0" spc="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LG</a:t>
            </a:r>
            <a:r>
              <a:rPr sz="2400" b="1" kern="0" spc="-33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kern="0" spc="24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商品品类丰富度较弱，最高销售额</a:t>
            </a:r>
            <a:r>
              <a:rPr sz="2400" b="1" kern="0" spc="23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与最高销量商品品类有差异。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58" name="picture 2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91668" y="766571"/>
            <a:ext cx="11800331" cy="71628"/>
          </a:xfrm>
          <a:prstGeom prst="rect">
            <a:avLst/>
          </a:prstGeom>
        </p:spPr>
      </p:pic>
      <p:sp>
        <p:nvSpPr>
          <p:cNvPr id="260" name="textbox 260"/>
          <p:cNvSpPr/>
          <p:nvPr/>
        </p:nvSpPr>
        <p:spPr>
          <a:xfrm>
            <a:off x="11868429" y="6617461"/>
            <a:ext cx="172085" cy="1600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3000"/>
              </a:lnSpc>
            </a:pPr>
            <a:r>
              <a:rPr sz="1200" kern="0" spc="-30" dirty="0">
                <a:solidFill>
                  <a:srgbClr val="89898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23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picture 2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170932" y="1056132"/>
            <a:ext cx="6947915" cy="5559552"/>
          </a:xfrm>
          <a:prstGeom prst="rect">
            <a:avLst/>
          </a:prstGeom>
        </p:spPr>
      </p:pic>
      <p:sp>
        <p:nvSpPr>
          <p:cNvPr id="264" name="textbox 264"/>
          <p:cNvSpPr/>
          <p:nvPr/>
        </p:nvSpPr>
        <p:spPr>
          <a:xfrm>
            <a:off x="333756" y="1127760"/>
            <a:ext cx="4753609" cy="5415279"/>
          </a:xfrm>
          <a:prstGeom prst="rect">
            <a:avLst/>
          </a:prstGeom>
          <a:solidFill>
            <a:srgbClr val="49989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7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39725" algn="l" rtl="0" eaLnBrk="0">
              <a:lnSpc>
                <a:spcPct val="88000"/>
              </a:lnSpc>
              <a:spcBef>
                <a:spcPts val="5"/>
              </a:spcBef>
            </a:pPr>
            <a:r>
              <a:rPr sz="1800" kern="0" spc="-8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门店销量最高Top1</a:t>
            </a:r>
            <a:r>
              <a:rPr sz="1800" kern="0" spc="-9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5商品结构上，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31470" indent="-4445" algn="l" rtl="0" eaLnBrk="0">
              <a:lnSpc>
                <a:spcPct val="124000"/>
              </a:lnSpc>
              <a:spcBef>
                <a:spcPts val="1640"/>
              </a:spcBef>
            </a:pPr>
            <a:r>
              <a:rPr sz="24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两门店商品结构相同，</a:t>
            </a:r>
            <a:r>
              <a:rPr sz="24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</a:t>
            </a:r>
            <a:r>
              <a:rPr sz="2400" b="1" kern="0" spc="-6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CDLG销量较低。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21945" algn="l" rtl="0" eaLnBrk="0">
              <a:lnSpc>
                <a:spcPct val="97000"/>
              </a:lnSpc>
              <a:spcBef>
                <a:spcPts val="1200"/>
              </a:spcBef>
            </a:pPr>
            <a:r>
              <a:rPr sz="1800" kern="0" spc="-7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WDCG销量最高前5类为</a:t>
            </a:r>
            <a:r>
              <a:rPr sz="1800" kern="0" spc="-8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23215" indent="1270" algn="l" rtl="0" eaLnBrk="0">
              <a:lnSpc>
                <a:spcPct val="124000"/>
              </a:lnSpc>
              <a:spcBef>
                <a:spcPts val="1445"/>
              </a:spcBef>
            </a:pPr>
            <a:r>
              <a:rPr sz="24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其他水果、肉类联影、苹果、</a:t>
            </a:r>
            <a:r>
              <a:rPr sz="2400" b="1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sz="2400" b="1" kern="0" spc="-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散装糯米、普通大米。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30200" algn="l" rtl="0" eaLnBrk="0">
              <a:lnSpc>
                <a:spcPct val="97000"/>
              </a:lnSpc>
              <a:spcBef>
                <a:spcPts val="1205"/>
              </a:spcBef>
            </a:pPr>
            <a:r>
              <a:rPr sz="1800" kern="0" spc="-8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CDLG销量最高前5类为：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0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25120" indent="16510" algn="l" rtl="0" eaLnBrk="0">
              <a:lnSpc>
                <a:spcPct val="124000"/>
              </a:lnSpc>
              <a:spcBef>
                <a:spcPts val="5"/>
              </a:spcBef>
            </a:pPr>
            <a:r>
              <a:rPr sz="2400" b="1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肉类联影、散装糯米、苹果、</a:t>
            </a:r>
            <a:r>
              <a:rPr sz="2400" b="1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sz="2400" b="1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其他水果、散装丁优米。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6" name="textbox 266"/>
          <p:cNvSpPr/>
          <p:nvPr/>
        </p:nvSpPr>
        <p:spPr>
          <a:xfrm>
            <a:off x="420116" y="318033"/>
            <a:ext cx="10175875" cy="381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2400" b="1" kern="0" spc="17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两店畅销品类结构相似，源于水果、肉类</a:t>
            </a:r>
            <a:r>
              <a:rPr sz="2400" b="1" kern="0" spc="16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、米类，</a:t>
            </a:r>
            <a:r>
              <a:rPr sz="2400" b="1" kern="0" spc="27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400" b="1" kern="0" spc="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CD</a:t>
            </a:r>
            <a:r>
              <a:rPr sz="2400" b="1" kern="0" spc="-20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kern="0" spc="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LG</a:t>
            </a:r>
            <a:r>
              <a:rPr sz="2400" b="1" kern="0" spc="-38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kern="0" spc="16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销量较低。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68" name="picture 26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91668" y="766571"/>
            <a:ext cx="11800331" cy="71628"/>
          </a:xfrm>
          <a:prstGeom prst="rect">
            <a:avLst/>
          </a:prstGeom>
        </p:spPr>
      </p:pic>
      <p:sp>
        <p:nvSpPr>
          <p:cNvPr id="270" name="textbox 270"/>
          <p:cNvSpPr/>
          <p:nvPr/>
        </p:nvSpPr>
        <p:spPr>
          <a:xfrm>
            <a:off x="11868429" y="6617461"/>
            <a:ext cx="172085" cy="1600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3000"/>
              </a:lnSpc>
            </a:pPr>
            <a:r>
              <a:rPr sz="1200" kern="0" spc="-30" dirty="0">
                <a:solidFill>
                  <a:srgbClr val="89898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24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picture 2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192267" y="1075944"/>
            <a:ext cx="6926580" cy="5542788"/>
          </a:xfrm>
          <a:prstGeom prst="rect">
            <a:avLst/>
          </a:prstGeom>
        </p:spPr>
      </p:pic>
      <p:sp>
        <p:nvSpPr>
          <p:cNvPr id="274" name="textbox 274"/>
          <p:cNvSpPr/>
          <p:nvPr/>
        </p:nvSpPr>
        <p:spPr>
          <a:xfrm>
            <a:off x="333756" y="1127760"/>
            <a:ext cx="4753609" cy="5415279"/>
          </a:xfrm>
          <a:prstGeom prst="rect">
            <a:avLst/>
          </a:prstGeom>
          <a:solidFill>
            <a:srgbClr val="49989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7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38455" algn="l" rtl="0" eaLnBrk="0">
              <a:lnSpc>
                <a:spcPct val="97000"/>
              </a:lnSpc>
              <a:spcBef>
                <a:spcPts val="5"/>
              </a:spcBef>
            </a:pPr>
            <a:r>
              <a:rPr sz="1800" kern="0" spc="-1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5月25日，WDGC最高销售源于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21945" algn="l" rtl="0" eaLnBrk="0">
              <a:lnSpc>
                <a:spcPct val="97000"/>
              </a:lnSpc>
              <a:spcBef>
                <a:spcPts val="1465"/>
              </a:spcBef>
            </a:pPr>
            <a:r>
              <a:rPr sz="2400" b="1" kern="0" spc="-16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水果类和散装糯米；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23850" indent="6350" algn="l" rtl="0" eaLnBrk="0">
              <a:lnSpc>
                <a:spcPct val="139000"/>
              </a:lnSpc>
              <a:spcBef>
                <a:spcPts val="540"/>
              </a:spcBef>
            </a:pPr>
            <a:r>
              <a:rPr sz="1800" kern="0" spc="-1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CDLG最高销售来源商品结构相同，但最</a:t>
            </a:r>
            <a:r>
              <a:rPr sz="1800" kern="0" spc="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sz="1800" kern="0" spc="-7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高销售为：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23215" algn="l" rtl="0" eaLnBrk="0">
              <a:lnSpc>
                <a:spcPct val="97000"/>
              </a:lnSpc>
              <a:spcBef>
                <a:spcPts val="1465"/>
              </a:spcBef>
            </a:pPr>
            <a:r>
              <a:rPr sz="2400" b="1" kern="0" spc="-17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散装糯米、水果类。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22580" algn="l" rtl="0" eaLnBrk="0">
              <a:lnSpc>
                <a:spcPct val="97000"/>
              </a:lnSpc>
              <a:spcBef>
                <a:spcPts val="1210"/>
              </a:spcBef>
            </a:pPr>
            <a:r>
              <a:rPr sz="1800" kern="0" spc="-2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猜测假设CDLG：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669925" indent="-334645" algn="l" rtl="0" eaLnBrk="0">
              <a:lnSpc>
                <a:spcPct val="126000"/>
              </a:lnSpc>
              <a:spcBef>
                <a:spcPts val="1480"/>
              </a:spcBef>
            </a:pPr>
            <a:r>
              <a:rPr sz="2400" kern="0" spc="-2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2400" kern="0" spc="32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400" b="1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存货储备是否未能满足顾客</a:t>
            </a:r>
            <a:r>
              <a:rPr sz="24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2300" b="1" kern="0" spc="-20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需求？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5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35280" algn="l" rtl="0" eaLnBrk="0">
              <a:lnSpc>
                <a:spcPct val="97000"/>
              </a:lnSpc>
            </a:pPr>
            <a:r>
              <a:rPr sz="2400" kern="0" spc="-1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</a:t>
            </a:r>
            <a:r>
              <a:rPr sz="2400" b="1" kern="0" spc="-1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促销策略有所差异？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6" name="textbox 276"/>
          <p:cNvSpPr/>
          <p:nvPr/>
        </p:nvSpPr>
        <p:spPr>
          <a:xfrm>
            <a:off x="438099" y="318033"/>
            <a:ext cx="7231380" cy="3816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2400" b="1" kern="0" spc="12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sz="2400" b="1" kern="0" spc="-34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kern="0" spc="12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sz="2400" b="1" kern="0" spc="-29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kern="0" spc="12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</a:t>
            </a:r>
            <a:r>
              <a:rPr sz="2400" b="1" kern="0" spc="-14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kern="0" spc="12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日，</a:t>
            </a:r>
            <a:r>
              <a:rPr sz="2400" b="1" kern="0" spc="-37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kern="0" spc="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WD</a:t>
            </a:r>
            <a:r>
              <a:rPr sz="2400" b="1" kern="0" spc="-33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kern="0" spc="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GC</a:t>
            </a:r>
            <a:r>
              <a:rPr sz="2400" b="1" kern="0" spc="-36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kern="0" spc="12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最高销售源于水果和糯米，。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78" name="picture 27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91668" y="766571"/>
            <a:ext cx="11800331" cy="71628"/>
          </a:xfrm>
          <a:prstGeom prst="rect">
            <a:avLst/>
          </a:prstGeom>
        </p:spPr>
      </p:pic>
      <p:sp>
        <p:nvSpPr>
          <p:cNvPr id="280" name="textbox 280"/>
          <p:cNvSpPr/>
          <p:nvPr/>
        </p:nvSpPr>
        <p:spPr>
          <a:xfrm>
            <a:off x="11868429" y="6617461"/>
            <a:ext cx="172085" cy="1600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3000"/>
              </a:lnSpc>
            </a:pPr>
            <a:r>
              <a:rPr sz="1200" kern="0" spc="-30" dirty="0">
                <a:solidFill>
                  <a:srgbClr val="89898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25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picture 2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213603" y="1034796"/>
            <a:ext cx="6978395" cy="5583935"/>
          </a:xfrm>
          <a:prstGeom prst="rect">
            <a:avLst/>
          </a:prstGeom>
        </p:spPr>
      </p:pic>
      <p:sp>
        <p:nvSpPr>
          <p:cNvPr id="284" name="textbox 284"/>
          <p:cNvSpPr/>
          <p:nvPr/>
        </p:nvSpPr>
        <p:spPr>
          <a:xfrm>
            <a:off x="333756" y="1127760"/>
            <a:ext cx="4753609" cy="5415279"/>
          </a:xfrm>
          <a:prstGeom prst="rect">
            <a:avLst/>
          </a:prstGeom>
          <a:solidFill>
            <a:srgbClr val="49989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7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38455" algn="l" rtl="0" eaLnBrk="0">
              <a:lnSpc>
                <a:spcPct val="97000"/>
              </a:lnSpc>
              <a:spcBef>
                <a:spcPts val="5"/>
              </a:spcBef>
            </a:pPr>
            <a:r>
              <a:rPr sz="1800" kern="0" spc="-1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5月门店促销时间分布中，明显可以看到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22580" indent="-635" algn="l" rtl="0" eaLnBrk="0">
              <a:lnSpc>
                <a:spcPct val="124000"/>
              </a:lnSpc>
              <a:spcBef>
                <a:spcPts val="1445"/>
              </a:spcBef>
            </a:pPr>
            <a:r>
              <a:rPr sz="24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WDGC采用了更为频</a:t>
            </a:r>
            <a:r>
              <a:rPr sz="24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繁的促销     </a:t>
            </a:r>
            <a:r>
              <a:rPr sz="2400" b="1" kern="0" spc="-10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策略；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38455" algn="l" rtl="0" eaLnBrk="0">
              <a:lnSpc>
                <a:spcPct val="97000"/>
              </a:lnSpc>
              <a:spcBef>
                <a:spcPts val="1200"/>
              </a:spcBef>
            </a:pPr>
            <a:r>
              <a:rPr sz="1800" kern="0" spc="-7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5月25日根据当日促销时间分布可判定：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4805" algn="l" rtl="0" eaLnBrk="0">
              <a:lnSpc>
                <a:spcPct val="97000"/>
              </a:lnSpc>
              <a:spcBef>
                <a:spcPts val="1470"/>
              </a:spcBef>
            </a:pPr>
            <a:r>
              <a:rPr sz="2400" b="1" kern="0" spc="-1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5月25日有大型促</a:t>
            </a:r>
            <a:r>
              <a:rPr sz="2400" b="1" kern="0" spc="-1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销事件发生。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25120" indent="-1270" algn="l" rtl="0" eaLnBrk="0">
              <a:lnSpc>
                <a:spcPct val="143000"/>
              </a:lnSpc>
              <a:spcBef>
                <a:spcPts val="525"/>
              </a:spcBef>
            </a:pPr>
            <a:r>
              <a:rPr sz="1800" kern="0" spc="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高峰时间分别为上午9点，午后</a:t>
            </a:r>
            <a:r>
              <a:rPr sz="1800" kern="0" spc="-1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14点，下</a:t>
            </a:r>
            <a:r>
              <a:rPr sz="1800" kern="0" spc="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午17点，晚上21点。符合</a:t>
            </a:r>
            <a:r>
              <a:rPr sz="1800" kern="0" spc="-1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上班族通勤时</a:t>
            </a:r>
            <a:r>
              <a:rPr sz="1800" kern="0" spc="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</a:t>
            </a:r>
            <a:r>
              <a:rPr sz="1800" kern="0" spc="-10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间段。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21945" algn="l" rtl="0" eaLnBrk="0">
              <a:lnSpc>
                <a:spcPct val="97000"/>
              </a:lnSpc>
              <a:spcBef>
                <a:spcPts val="1135"/>
              </a:spcBef>
            </a:pPr>
            <a:r>
              <a:rPr sz="1800" kern="0" spc="-12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但在相同的促销时段，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1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31470" algn="l" rtl="0" eaLnBrk="0">
              <a:lnSpc>
                <a:spcPct val="97000"/>
              </a:lnSpc>
            </a:pPr>
            <a:r>
              <a:rPr sz="2400" b="1" kern="0" spc="-10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CDGC没有抓住销</a:t>
            </a:r>
            <a:r>
              <a:rPr sz="2400" b="1" kern="0" spc="-1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售提升机遇。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6" name="textbox 286"/>
          <p:cNvSpPr/>
          <p:nvPr/>
        </p:nvSpPr>
        <p:spPr>
          <a:xfrm>
            <a:off x="428345" y="318033"/>
            <a:ext cx="9720580" cy="3816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2400" b="1" kern="0" spc="14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</a:t>
            </a:r>
            <a:r>
              <a:rPr sz="2400" b="1" kern="0" spc="-39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kern="0" spc="14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号的销售异常源</a:t>
            </a:r>
            <a:r>
              <a:rPr sz="2400" b="1" kern="0" spc="13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于</a:t>
            </a:r>
            <a:r>
              <a:rPr sz="2400" b="1" kern="0" spc="-39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kern="0" spc="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WD</a:t>
            </a:r>
            <a:r>
              <a:rPr sz="2400" b="1" kern="0" spc="-32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kern="0" spc="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GC</a:t>
            </a:r>
            <a:r>
              <a:rPr sz="2400" b="1" kern="0" spc="-37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kern="0" spc="13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对促销策略的把握，</a:t>
            </a:r>
            <a:r>
              <a:rPr sz="2400" b="1" kern="0" spc="28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400" b="1" kern="0" spc="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CD</a:t>
            </a:r>
            <a:r>
              <a:rPr sz="2400" b="1" kern="0" spc="-20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kern="0" spc="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LG</a:t>
            </a:r>
            <a:r>
              <a:rPr sz="2400" b="1" kern="0" spc="-34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kern="0" spc="13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需改善。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88" name="picture 2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91668" y="766571"/>
            <a:ext cx="11800331" cy="71628"/>
          </a:xfrm>
          <a:prstGeom prst="rect">
            <a:avLst/>
          </a:prstGeom>
        </p:spPr>
      </p:pic>
      <p:sp>
        <p:nvSpPr>
          <p:cNvPr id="290" name="textbox 290"/>
          <p:cNvSpPr/>
          <p:nvPr/>
        </p:nvSpPr>
        <p:spPr>
          <a:xfrm>
            <a:off x="11868429" y="6617461"/>
            <a:ext cx="172085" cy="1600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3000"/>
              </a:lnSpc>
            </a:pPr>
            <a:r>
              <a:rPr sz="1200" kern="0" spc="-30" dirty="0">
                <a:solidFill>
                  <a:srgbClr val="89898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26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picture 29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257800" y="1051560"/>
            <a:ext cx="6934200" cy="5545835"/>
          </a:xfrm>
          <a:prstGeom prst="rect">
            <a:avLst/>
          </a:prstGeom>
        </p:spPr>
      </p:pic>
      <p:sp>
        <p:nvSpPr>
          <p:cNvPr id="294" name="textbox 294"/>
          <p:cNvSpPr/>
          <p:nvPr/>
        </p:nvSpPr>
        <p:spPr>
          <a:xfrm>
            <a:off x="333756" y="1127760"/>
            <a:ext cx="4753609" cy="5415279"/>
          </a:xfrm>
          <a:prstGeom prst="rect">
            <a:avLst/>
          </a:prstGeom>
          <a:solidFill>
            <a:srgbClr val="49989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7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38455" algn="l" rtl="0" eaLnBrk="0">
              <a:lnSpc>
                <a:spcPct val="97000"/>
              </a:lnSpc>
              <a:spcBef>
                <a:spcPts val="5"/>
              </a:spcBef>
            </a:pPr>
            <a:r>
              <a:rPr sz="1800" kern="0" spc="-10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5月门店库存情况可以看到：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23215" indent="7620" algn="l" rtl="0" eaLnBrk="0">
              <a:lnSpc>
                <a:spcPct val="124000"/>
              </a:lnSpc>
              <a:spcBef>
                <a:spcPts val="1440"/>
              </a:spcBef>
            </a:pPr>
            <a:r>
              <a:rPr sz="24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CDGC拥有更高商品库存量，</a:t>
            </a:r>
            <a:r>
              <a:rPr sz="24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sz="2400" b="1" kern="0" spc="-7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不存在缺货。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21945" algn="l" rtl="0" eaLnBrk="0">
              <a:lnSpc>
                <a:spcPct val="100000"/>
              </a:lnSpc>
              <a:spcBef>
                <a:spcPts val="540"/>
              </a:spcBef>
            </a:pPr>
            <a:r>
              <a:rPr sz="1800" kern="0" spc="-1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但相对而言，CDGC也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0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20040" algn="l" rtl="0" eaLnBrk="0">
              <a:lnSpc>
                <a:spcPct val="98000"/>
              </a:lnSpc>
              <a:spcBef>
                <a:spcPts val="5"/>
              </a:spcBef>
            </a:pPr>
            <a:r>
              <a:rPr sz="2400" b="1" kern="0" spc="-1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承受更高的库存成本。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6" name="textbox 296"/>
          <p:cNvSpPr/>
          <p:nvPr/>
        </p:nvSpPr>
        <p:spPr>
          <a:xfrm>
            <a:off x="424688" y="318033"/>
            <a:ext cx="7768590" cy="3816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2400" b="1" kern="0" spc="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CD</a:t>
            </a:r>
            <a:r>
              <a:rPr sz="2400" b="1" kern="0" spc="-21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kern="0" spc="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LG</a:t>
            </a:r>
            <a:r>
              <a:rPr sz="2400" b="1" kern="0" spc="-28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kern="0" spc="21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门店商品拥有更高库存，承受更</a:t>
            </a:r>
            <a:r>
              <a:rPr sz="2400" b="1" kern="0" spc="20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高库存成本。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98" name="picture 29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91668" y="766571"/>
            <a:ext cx="11800331" cy="71628"/>
          </a:xfrm>
          <a:prstGeom prst="rect">
            <a:avLst/>
          </a:prstGeom>
        </p:spPr>
      </p:pic>
      <p:sp>
        <p:nvSpPr>
          <p:cNvPr id="300" name="textbox 300"/>
          <p:cNvSpPr/>
          <p:nvPr/>
        </p:nvSpPr>
        <p:spPr>
          <a:xfrm>
            <a:off x="11868429" y="6617461"/>
            <a:ext cx="172085" cy="1600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3000"/>
              </a:lnSpc>
            </a:pPr>
            <a:r>
              <a:rPr sz="1200" kern="0" spc="-30" dirty="0">
                <a:solidFill>
                  <a:srgbClr val="89898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27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4"/>
          <p:cNvGrpSpPr/>
          <p:nvPr/>
        </p:nvGrpSpPr>
        <p:grpSpPr>
          <a:xfrm rot="21600000">
            <a:off x="8618219" y="1909571"/>
            <a:ext cx="2427732" cy="2429256"/>
            <a:chOff x="0" y="0"/>
            <a:chExt cx="2427732" cy="2429256"/>
          </a:xfrm>
        </p:grpSpPr>
        <p:sp>
          <p:nvSpPr>
            <p:cNvPr id="302" name="path 302"/>
            <p:cNvSpPr/>
            <p:nvPr/>
          </p:nvSpPr>
          <p:spPr>
            <a:xfrm>
              <a:off x="0" y="0"/>
              <a:ext cx="2427732" cy="2429256"/>
            </a:xfrm>
            <a:custGeom>
              <a:avLst/>
              <a:gdLst/>
              <a:ahLst/>
              <a:cxnLst/>
              <a:rect l="0" t="0" r="0" b="0"/>
              <a:pathLst>
                <a:path w="3823" h="3825">
                  <a:moveTo>
                    <a:pt x="0" y="1912"/>
                  </a:moveTo>
                  <a:cubicBezTo>
                    <a:pt x="0" y="856"/>
                    <a:pt x="855" y="0"/>
                    <a:pt x="1911" y="0"/>
                  </a:cubicBezTo>
                  <a:cubicBezTo>
                    <a:pt x="2967" y="0"/>
                    <a:pt x="3823" y="856"/>
                    <a:pt x="3823" y="1912"/>
                  </a:cubicBezTo>
                  <a:cubicBezTo>
                    <a:pt x="3823" y="2969"/>
                    <a:pt x="2967" y="3825"/>
                    <a:pt x="1911" y="3825"/>
                  </a:cubicBezTo>
                  <a:cubicBezTo>
                    <a:pt x="855" y="3825"/>
                    <a:pt x="0" y="2969"/>
                    <a:pt x="0" y="1912"/>
                  </a:cubicBezTo>
                </a:path>
              </a:pathLst>
            </a:custGeom>
            <a:solidFill>
              <a:srgbClr val="49989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04" name="textbox 304"/>
            <p:cNvSpPr/>
            <p:nvPr/>
          </p:nvSpPr>
          <p:spPr>
            <a:xfrm>
              <a:off x="-12700" y="-12700"/>
              <a:ext cx="2453639" cy="24892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445135" indent="-160655" algn="l" rtl="0" eaLnBrk="0">
                <a:lnSpc>
                  <a:spcPct val="102000"/>
                </a:lnSpc>
                <a:spcBef>
                  <a:spcPts val="5"/>
                </a:spcBef>
              </a:pPr>
              <a:r>
                <a:rPr sz="2700" b="1" kern="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CD</a:t>
              </a:r>
              <a:r>
                <a:rPr sz="2700" b="1" kern="0" spc="-28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2700" b="1" kern="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LG</a:t>
              </a:r>
              <a:r>
                <a:rPr sz="2700" b="1" kern="0" spc="6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库存</a:t>
              </a:r>
              <a:r>
                <a:rPr sz="2700" b="1" kern="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</a:t>
              </a:r>
              <a:r>
                <a:rPr sz="2700" b="1" kern="0" spc="3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提升成本</a:t>
              </a:r>
              <a:endParaRPr sz="2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 rot="21600000">
            <a:off x="1219200" y="1909571"/>
            <a:ext cx="2427732" cy="2429256"/>
            <a:chOff x="0" y="0"/>
            <a:chExt cx="2427732" cy="2429256"/>
          </a:xfrm>
        </p:grpSpPr>
        <p:sp>
          <p:nvSpPr>
            <p:cNvPr id="306" name="path 306"/>
            <p:cNvSpPr/>
            <p:nvPr/>
          </p:nvSpPr>
          <p:spPr>
            <a:xfrm>
              <a:off x="0" y="0"/>
              <a:ext cx="2427732" cy="2429256"/>
            </a:xfrm>
            <a:custGeom>
              <a:avLst/>
              <a:gdLst/>
              <a:ahLst/>
              <a:cxnLst/>
              <a:rect l="0" t="0" r="0" b="0"/>
              <a:pathLst>
                <a:path w="3823" h="3825">
                  <a:moveTo>
                    <a:pt x="0" y="1912"/>
                  </a:moveTo>
                  <a:cubicBezTo>
                    <a:pt x="0" y="856"/>
                    <a:pt x="855" y="0"/>
                    <a:pt x="1911" y="0"/>
                  </a:cubicBezTo>
                  <a:cubicBezTo>
                    <a:pt x="2967" y="0"/>
                    <a:pt x="3823" y="856"/>
                    <a:pt x="3823" y="1912"/>
                  </a:cubicBezTo>
                  <a:cubicBezTo>
                    <a:pt x="3823" y="2969"/>
                    <a:pt x="2967" y="3825"/>
                    <a:pt x="1911" y="3825"/>
                  </a:cubicBezTo>
                  <a:cubicBezTo>
                    <a:pt x="855" y="3825"/>
                    <a:pt x="0" y="2969"/>
                    <a:pt x="0" y="1912"/>
                  </a:cubicBezTo>
                </a:path>
              </a:pathLst>
            </a:custGeom>
            <a:solidFill>
              <a:srgbClr val="49989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08" name="textbox 308"/>
            <p:cNvSpPr/>
            <p:nvPr/>
          </p:nvSpPr>
          <p:spPr>
            <a:xfrm>
              <a:off x="-12700" y="-12700"/>
              <a:ext cx="2453639" cy="249110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8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837565" indent="-391795" algn="l" rtl="0" eaLnBrk="0">
                <a:lnSpc>
                  <a:spcPct val="102000"/>
                </a:lnSpc>
              </a:pPr>
              <a:r>
                <a:rPr sz="2700" b="1" kern="0" spc="30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促销提升</a:t>
              </a:r>
              <a:r>
                <a:rPr sz="2700" b="1" kern="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 </a:t>
              </a:r>
              <a:r>
                <a:rPr sz="2700" b="1" kern="0" spc="22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销售</a:t>
              </a:r>
              <a:endParaRPr sz="2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 rot="21600000">
            <a:off x="4917948" y="1909571"/>
            <a:ext cx="2427732" cy="2429256"/>
            <a:chOff x="0" y="0"/>
            <a:chExt cx="2427732" cy="2429256"/>
          </a:xfrm>
        </p:grpSpPr>
        <p:sp>
          <p:nvSpPr>
            <p:cNvPr id="310" name="path 310"/>
            <p:cNvSpPr/>
            <p:nvPr/>
          </p:nvSpPr>
          <p:spPr>
            <a:xfrm>
              <a:off x="0" y="0"/>
              <a:ext cx="2427732" cy="2429256"/>
            </a:xfrm>
            <a:custGeom>
              <a:avLst/>
              <a:gdLst/>
              <a:ahLst/>
              <a:cxnLst/>
              <a:rect l="0" t="0" r="0" b="0"/>
              <a:pathLst>
                <a:path w="3823" h="3825">
                  <a:moveTo>
                    <a:pt x="0" y="1912"/>
                  </a:moveTo>
                  <a:cubicBezTo>
                    <a:pt x="0" y="856"/>
                    <a:pt x="855" y="0"/>
                    <a:pt x="1911" y="0"/>
                  </a:cubicBezTo>
                  <a:cubicBezTo>
                    <a:pt x="2967" y="0"/>
                    <a:pt x="3823" y="856"/>
                    <a:pt x="3823" y="1912"/>
                  </a:cubicBezTo>
                  <a:cubicBezTo>
                    <a:pt x="3823" y="2969"/>
                    <a:pt x="2967" y="3825"/>
                    <a:pt x="1911" y="3825"/>
                  </a:cubicBezTo>
                  <a:cubicBezTo>
                    <a:pt x="855" y="3825"/>
                    <a:pt x="0" y="2969"/>
                    <a:pt x="0" y="1912"/>
                  </a:cubicBezTo>
                </a:path>
              </a:pathLst>
            </a:custGeom>
            <a:solidFill>
              <a:srgbClr val="49989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12" name="textbox 312"/>
            <p:cNvSpPr/>
            <p:nvPr/>
          </p:nvSpPr>
          <p:spPr>
            <a:xfrm>
              <a:off x="-12700" y="-12700"/>
              <a:ext cx="2453639" cy="249110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6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642620" indent="-194945" algn="l" rtl="0" eaLnBrk="0">
                <a:lnSpc>
                  <a:spcPct val="102000"/>
                </a:lnSpc>
              </a:pPr>
              <a:r>
                <a:rPr sz="2700" b="1" kern="0" spc="30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促销策略</a:t>
              </a:r>
              <a:r>
                <a:rPr sz="2700" b="1" kern="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 </a:t>
              </a:r>
              <a:r>
                <a:rPr sz="2700" b="1" kern="0" spc="28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针对性</a:t>
              </a:r>
              <a:endParaRPr sz="2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314" name="textbox 314"/>
          <p:cNvSpPr/>
          <p:nvPr/>
        </p:nvSpPr>
        <p:spPr>
          <a:xfrm>
            <a:off x="4808030" y="4988783"/>
            <a:ext cx="2656204" cy="866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400" kern="0" spc="8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促销策略需要根据到店顾客</a:t>
            </a:r>
            <a:r>
              <a:rPr sz="1400" kern="0" spc="7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消费</a:t>
            </a:r>
            <a:endParaRPr sz="14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19050" indent="-2540" algn="l" rtl="0" eaLnBrk="0">
              <a:lnSpc>
                <a:spcPct val="153000"/>
              </a:lnSpc>
              <a:spcBef>
                <a:spcPts val="20"/>
              </a:spcBef>
            </a:pPr>
            <a:r>
              <a:rPr sz="1400" kern="0" spc="4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属性及特征</a:t>
            </a:r>
            <a:r>
              <a:rPr sz="1400" kern="0" spc="-8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400" kern="0" spc="4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、</a:t>
            </a:r>
            <a:r>
              <a:rPr sz="1400" kern="0" spc="-19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400" kern="0" spc="4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商品偏好等有针对</a:t>
            </a:r>
            <a:r>
              <a:rPr sz="1400" kern="0" spc="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400" kern="0" spc="-1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性的进行策略制定。</a:t>
            </a:r>
            <a:endParaRPr sz="14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16" name="textbox 316"/>
          <p:cNvSpPr/>
          <p:nvPr/>
        </p:nvSpPr>
        <p:spPr>
          <a:xfrm>
            <a:off x="8508685" y="4988783"/>
            <a:ext cx="2655570" cy="8648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4605" algn="l" rtl="0" eaLnBrk="0">
              <a:lnSpc>
                <a:spcPct val="87000"/>
              </a:lnSpc>
            </a:pPr>
            <a:r>
              <a:rPr sz="1400" kern="0" spc="3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拥有较弱存货周转率的</a:t>
            </a:r>
            <a:r>
              <a:rPr sz="1400" kern="0" spc="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CDLG</a:t>
            </a:r>
            <a:r>
              <a:rPr sz="1400" kern="0" spc="3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同时</a:t>
            </a:r>
            <a:endParaRPr sz="14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12700" indent="1905" algn="l" rtl="0" eaLnBrk="0">
              <a:lnSpc>
                <a:spcPct val="153000"/>
              </a:lnSpc>
              <a:spcBef>
                <a:spcPts val="5"/>
              </a:spcBef>
            </a:pPr>
            <a:r>
              <a:rPr sz="1400" kern="0" spc="4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拥有较高的库存</a:t>
            </a:r>
            <a:r>
              <a:rPr sz="1400" kern="0" spc="-4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400" kern="0" spc="4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，</a:t>
            </a:r>
            <a:r>
              <a:rPr sz="1400" kern="0" spc="-23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400" kern="0" spc="4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进一步增加了</a:t>
            </a:r>
            <a:r>
              <a:rPr sz="1400" kern="0" spc="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400" kern="0" spc="-1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成本压缩了利润。</a:t>
            </a:r>
            <a:endParaRPr sz="14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18" name="textbox 318"/>
          <p:cNvSpPr/>
          <p:nvPr/>
        </p:nvSpPr>
        <p:spPr>
          <a:xfrm>
            <a:off x="430174" y="318033"/>
            <a:ext cx="4476750" cy="3816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2400" b="1" kern="0" spc="24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门店销售情况分析小结——</a:t>
            </a:r>
            <a:r>
              <a:rPr sz="2400" b="1" kern="0" spc="-34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kern="0" spc="24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货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0" name="textbox 320"/>
          <p:cNvSpPr/>
          <p:nvPr/>
        </p:nvSpPr>
        <p:spPr>
          <a:xfrm>
            <a:off x="1109666" y="4988783"/>
            <a:ext cx="2655570" cy="5314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4605" algn="l" rtl="0" eaLnBrk="0">
              <a:lnSpc>
                <a:spcPct val="87000"/>
              </a:lnSpc>
            </a:pPr>
            <a:r>
              <a:rPr sz="1400" kern="0" spc="6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频繁使用促销的</a:t>
            </a:r>
            <a:r>
              <a:rPr sz="1400" kern="0" spc="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WDGC</a:t>
            </a:r>
            <a:r>
              <a:rPr sz="1400" kern="0" spc="6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相比</a:t>
            </a:r>
            <a:r>
              <a:rPr sz="1400" kern="0" spc="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CDLG</a:t>
            </a:r>
            <a:endParaRPr sz="14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12700" algn="l" rtl="0" eaLnBrk="0">
              <a:lnSpc>
                <a:spcPts val="2520"/>
              </a:lnSpc>
            </a:pPr>
            <a:r>
              <a:rPr sz="1400" kern="0" spc="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提升了更高的门店销售</a:t>
            </a:r>
            <a:r>
              <a:rPr sz="1400" kern="0" spc="-1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业绩。</a:t>
            </a:r>
            <a:endParaRPr sz="14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pic>
        <p:nvPicPr>
          <p:cNvPr id="322" name="picture 3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91668" y="766571"/>
            <a:ext cx="11800331" cy="71628"/>
          </a:xfrm>
          <a:prstGeom prst="rect">
            <a:avLst/>
          </a:prstGeom>
        </p:spPr>
      </p:pic>
      <p:sp>
        <p:nvSpPr>
          <p:cNvPr id="324" name="textbox 324"/>
          <p:cNvSpPr/>
          <p:nvPr/>
        </p:nvSpPr>
        <p:spPr>
          <a:xfrm>
            <a:off x="11868429" y="6617461"/>
            <a:ext cx="172085" cy="1600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3000"/>
              </a:lnSpc>
            </a:pPr>
            <a:r>
              <a:rPr sz="1200" kern="0" spc="-30" dirty="0">
                <a:solidFill>
                  <a:srgbClr val="89898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28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textbox 326"/>
          <p:cNvSpPr/>
          <p:nvPr/>
        </p:nvSpPr>
        <p:spPr>
          <a:xfrm>
            <a:off x="5467391" y="3600418"/>
            <a:ext cx="1214755" cy="3225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</a:pPr>
            <a:r>
              <a:rPr sz="2000" kern="0" spc="34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因素分析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8" name="textbox 328"/>
          <p:cNvSpPr/>
          <p:nvPr/>
        </p:nvSpPr>
        <p:spPr>
          <a:xfrm>
            <a:off x="5879741" y="2847555"/>
            <a:ext cx="375920" cy="4425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3280"/>
              </a:lnSpc>
            </a:pPr>
            <a:r>
              <a:rPr sz="2700" b="1" kern="0" spc="4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0" name="path 330"/>
          <p:cNvSpPr/>
          <p:nvPr/>
        </p:nvSpPr>
        <p:spPr>
          <a:xfrm>
            <a:off x="5459729" y="3380232"/>
            <a:ext cx="1179067" cy="22859"/>
          </a:xfrm>
          <a:custGeom>
            <a:avLst/>
            <a:gdLst/>
            <a:ahLst/>
            <a:cxnLst/>
            <a:rect l="0" t="0" r="0" b="0"/>
            <a:pathLst>
              <a:path w="1856" h="35">
                <a:moveTo>
                  <a:pt x="0" y="17"/>
                </a:moveTo>
                <a:lnTo>
                  <a:pt x="1856" y="17"/>
                </a:lnTo>
              </a:path>
            </a:pathLst>
          </a:custGeom>
          <a:noFill/>
          <a:ln w="22859" cap="flat">
            <a:solidFill>
              <a:srgbClr val="224644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32" name="textbox 332"/>
          <p:cNvSpPr/>
          <p:nvPr/>
        </p:nvSpPr>
        <p:spPr>
          <a:xfrm>
            <a:off x="11867514" y="6617461"/>
            <a:ext cx="173354" cy="1600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3000"/>
              </a:lnSpc>
            </a:pPr>
            <a:r>
              <a:rPr sz="1200" kern="0" spc="-30" dirty="0">
                <a:solidFill>
                  <a:srgbClr val="89898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31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picture 3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108448" y="1200910"/>
            <a:ext cx="7010400" cy="5612890"/>
          </a:xfrm>
          <a:prstGeom prst="rect">
            <a:avLst/>
          </a:prstGeom>
        </p:spPr>
      </p:pic>
      <p:sp>
        <p:nvSpPr>
          <p:cNvPr id="336" name="textbox 336"/>
          <p:cNvSpPr/>
          <p:nvPr/>
        </p:nvSpPr>
        <p:spPr>
          <a:xfrm>
            <a:off x="333756" y="1237488"/>
            <a:ext cx="4775200" cy="5576570"/>
          </a:xfrm>
          <a:prstGeom prst="rect">
            <a:avLst/>
          </a:prstGeom>
          <a:solidFill>
            <a:srgbClr val="49989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11785" algn="l" rtl="0" eaLnBrk="0">
              <a:lnSpc>
                <a:spcPct val="89000"/>
              </a:lnSpc>
            </a:pPr>
            <a:r>
              <a:rPr sz="1800" kern="0" spc="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大部分门店到店顾客</a:t>
            </a:r>
            <a:r>
              <a:rPr sz="1800" kern="0" spc="-1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购买金额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13055" algn="l" rtl="0" eaLnBrk="0">
              <a:lnSpc>
                <a:spcPts val="3140"/>
              </a:lnSpc>
            </a:pPr>
            <a:r>
              <a:rPr sz="24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在10000以下</a:t>
            </a:r>
            <a:r>
              <a:rPr sz="1800" kern="0" spc="-1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3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14960" indent="-1905" algn="l" rtl="0" eaLnBrk="0">
              <a:lnSpc>
                <a:spcPct val="139000"/>
              </a:lnSpc>
              <a:spcBef>
                <a:spcPts val="540"/>
              </a:spcBef>
            </a:pPr>
            <a:r>
              <a:rPr sz="1800" kern="0" spc="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女性随年龄增长消费频率和购买</a:t>
            </a:r>
            <a:r>
              <a:rPr sz="1800" kern="0" spc="-1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价值增加；</a:t>
            </a:r>
            <a:r>
              <a:rPr sz="1800" kern="0" spc="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800" kern="0" spc="-2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男性购买行为较平均，不受年</a:t>
            </a:r>
            <a:r>
              <a:rPr sz="1800" kern="0" spc="-3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龄影响；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11785" algn="l" rtl="0" eaLnBrk="0">
              <a:lnSpc>
                <a:spcPct val="97000"/>
              </a:lnSpc>
              <a:spcBef>
                <a:spcPts val="720"/>
              </a:spcBef>
            </a:pPr>
            <a:r>
              <a:rPr sz="24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WDGC更能吸引购买力强</a:t>
            </a:r>
            <a:r>
              <a:rPr sz="24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、年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14325" algn="l" rtl="0" eaLnBrk="0">
              <a:lnSpc>
                <a:spcPct val="97000"/>
              </a:lnSpc>
              <a:spcBef>
                <a:spcPts val="1515"/>
              </a:spcBef>
            </a:pPr>
            <a:r>
              <a:rPr sz="24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龄偏高的顾客</a:t>
            </a:r>
            <a:r>
              <a:rPr sz="18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11785" algn="l" rtl="0" eaLnBrk="0">
              <a:lnSpc>
                <a:spcPct val="97000"/>
              </a:lnSpc>
              <a:spcBef>
                <a:spcPts val="550"/>
              </a:spcBef>
            </a:pPr>
            <a:r>
              <a:rPr sz="1800" kern="0" spc="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顾客的购买行为一般发生的</a:t>
            </a:r>
            <a:r>
              <a:rPr sz="1800" kern="0" spc="-1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高峰期在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36550" indent="-19050" algn="l" rtl="0" eaLnBrk="0">
              <a:lnSpc>
                <a:spcPct val="139000"/>
              </a:lnSpc>
              <a:spcBef>
                <a:spcPts val="530"/>
              </a:spcBef>
            </a:pPr>
            <a:r>
              <a:rPr sz="24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上午8:00-10:00</a:t>
            </a:r>
            <a:r>
              <a:rPr sz="1800" kern="0" spc="-1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左右，下午一般在</a:t>
            </a:r>
            <a:r>
              <a:rPr sz="1800" kern="0" spc="1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sz="2400" b="1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17:00-20:00</a:t>
            </a:r>
            <a:r>
              <a:rPr sz="1800" kern="0" spc="-2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之间。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8" name="textbox 338"/>
          <p:cNvSpPr/>
          <p:nvPr/>
        </p:nvSpPr>
        <p:spPr>
          <a:xfrm>
            <a:off x="430174" y="318033"/>
            <a:ext cx="5116829" cy="3797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2400" b="1" kern="0" spc="27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门店顾客属性及行为特征整体情况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40" name="picture 3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91668" y="766571"/>
            <a:ext cx="11800331" cy="7162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picture 3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289803" y="1155191"/>
            <a:ext cx="6829043" cy="5463540"/>
          </a:xfrm>
          <a:prstGeom prst="rect">
            <a:avLst/>
          </a:prstGeom>
        </p:spPr>
      </p:pic>
      <p:sp>
        <p:nvSpPr>
          <p:cNvPr id="344" name="textbox 344"/>
          <p:cNvSpPr/>
          <p:nvPr/>
        </p:nvSpPr>
        <p:spPr>
          <a:xfrm>
            <a:off x="333756" y="1237488"/>
            <a:ext cx="4775200" cy="5576570"/>
          </a:xfrm>
          <a:prstGeom prst="rect">
            <a:avLst/>
          </a:prstGeom>
          <a:solidFill>
            <a:srgbClr val="49989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11150" algn="l" rtl="0" eaLnBrk="0">
              <a:lnSpc>
                <a:spcPct val="139000"/>
              </a:lnSpc>
              <a:spcBef>
                <a:spcPts val="5"/>
              </a:spcBef>
            </a:pPr>
            <a:r>
              <a:rPr sz="1800" kern="0" spc="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在到店顾客男女性别分布中，W</a:t>
            </a:r>
            <a:r>
              <a:rPr sz="1800" kern="0" spc="-1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DGC拥         有更多的顾客量，其中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23850" algn="l" rtl="0" eaLnBrk="0">
              <a:lnSpc>
                <a:spcPct val="97000"/>
              </a:lnSpc>
              <a:spcBef>
                <a:spcPts val="1455"/>
              </a:spcBef>
            </a:pPr>
            <a:r>
              <a:rPr sz="24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吸引女性消费者购物居多</a:t>
            </a:r>
            <a:r>
              <a:rPr sz="1800" kern="0" spc="-2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27025" indent="-15240" algn="l" rtl="0" eaLnBrk="0">
              <a:lnSpc>
                <a:spcPct val="149000"/>
              </a:lnSpc>
              <a:spcBef>
                <a:spcPts val="545"/>
              </a:spcBef>
            </a:pPr>
            <a:r>
              <a:rPr sz="1800" kern="0" spc="-1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另一方面CDLG在顾客性别消费贡献分布</a:t>
            </a:r>
            <a:r>
              <a:rPr sz="1800" kern="0" spc="1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sz="1800" kern="0" spc="-2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</a:t>
            </a:r>
            <a:r>
              <a:rPr sz="2400" b="1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差异并不明显</a:t>
            </a:r>
            <a:r>
              <a:rPr sz="1800" kern="0" spc="-2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11785" algn="l" rtl="0" eaLnBrk="0">
              <a:lnSpc>
                <a:spcPct val="97000"/>
              </a:lnSpc>
              <a:spcBef>
                <a:spcPts val="5"/>
              </a:spcBef>
            </a:pPr>
            <a:r>
              <a:rPr sz="1800" kern="0" spc="-6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WDGC与CDLG最大差异就是</a:t>
            </a:r>
            <a:r>
              <a:rPr sz="1800" kern="0" spc="-7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促销策略。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6" name="textbox 346"/>
          <p:cNvSpPr/>
          <p:nvPr/>
        </p:nvSpPr>
        <p:spPr>
          <a:xfrm>
            <a:off x="417982" y="318033"/>
            <a:ext cx="6574790" cy="3797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2400" b="1" kern="0" spc="20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善用促销策略的</a:t>
            </a:r>
            <a:r>
              <a:rPr sz="2400" b="1" kern="0" spc="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WD</a:t>
            </a:r>
            <a:r>
              <a:rPr sz="2400" b="1" kern="0" spc="-34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kern="0" spc="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GC</a:t>
            </a:r>
            <a:r>
              <a:rPr sz="2400" b="1" kern="0" spc="-28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kern="0" spc="20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吸引女性顾客更多。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48" name="picture 3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91668" y="766571"/>
            <a:ext cx="11800331" cy="71628"/>
          </a:xfrm>
          <a:prstGeom prst="rect">
            <a:avLst/>
          </a:prstGeom>
        </p:spPr>
      </p:pic>
      <p:sp>
        <p:nvSpPr>
          <p:cNvPr id="350" name="textbox 350"/>
          <p:cNvSpPr/>
          <p:nvPr/>
        </p:nvSpPr>
        <p:spPr>
          <a:xfrm>
            <a:off x="11867514" y="6617461"/>
            <a:ext cx="173354" cy="1600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3000"/>
              </a:lnSpc>
            </a:pPr>
            <a:r>
              <a:rPr sz="1200" kern="0" spc="-30" dirty="0">
                <a:solidFill>
                  <a:srgbClr val="89898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33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picture 3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326379" y="1130808"/>
            <a:ext cx="6792467" cy="5434583"/>
          </a:xfrm>
          <a:prstGeom prst="rect">
            <a:avLst/>
          </a:prstGeom>
        </p:spPr>
      </p:pic>
      <p:sp>
        <p:nvSpPr>
          <p:cNvPr id="354" name="textbox 354"/>
          <p:cNvSpPr/>
          <p:nvPr/>
        </p:nvSpPr>
        <p:spPr>
          <a:xfrm>
            <a:off x="333756" y="1237488"/>
            <a:ext cx="4775200" cy="5255259"/>
          </a:xfrm>
          <a:prstGeom prst="rect">
            <a:avLst/>
          </a:prstGeom>
          <a:solidFill>
            <a:srgbClr val="49989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10515" indent="635" algn="l" rtl="0" eaLnBrk="0">
              <a:lnSpc>
                <a:spcPct val="143000"/>
              </a:lnSpc>
            </a:pPr>
            <a:r>
              <a:rPr sz="1800" kern="0" spc="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在门店销售贡献年龄分布中，两</a:t>
            </a:r>
            <a:r>
              <a:rPr sz="1800" kern="0" spc="-1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家店铺在</a:t>
            </a:r>
            <a:r>
              <a:rPr sz="1800" kern="0" spc="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40岁以前的到店顾客年龄结构相似</a:t>
            </a:r>
            <a:r>
              <a:rPr sz="1800" kern="0" spc="-1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，但通</a:t>
            </a:r>
            <a:r>
              <a:rPr sz="1800" kern="0" spc="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过促销策略的使用，WDGC吸</a:t>
            </a:r>
            <a:r>
              <a:rPr sz="1800" kern="0" spc="-1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引了更多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13690" algn="l" rtl="0" eaLnBrk="0">
              <a:lnSpc>
                <a:spcPct val="97000"/>
              </a:lnSpc>
              <a:spcBef>
                <a:spcPts val="1470"/>
              </a:spcBef>
            </a:pPr>
            <a:r>
              <a:rPr sz="24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40岁以上的消费人群</a:t>
            </a:r>
            <a:r>
              <a:rPr sz="1800" kern="0" spc="-1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11785" algn="l" rtl="0" eaLnBrk="0">
              <a:lnSpc>
                <a:spcPct val="97000"/>
              </a:lnSpc>
              <a:spcBef>
                <a:spcPts val="545"/>
              </a:spcBef>
            </a:pPr>
            <a:r>
              <a:rPr sz="1800" kern="0" spc="-1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这部分人群的主要特征是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13055" algn="l" rtl="0" eaLnBrk="0">
              <a:lnSpc>
                <a:spcPct val="97000"/>
              </a:lnSpc>
              <a:spcBef>
                <a:spcPts val="1455"/>
              </a:spcBef>
            </a:pPr>
            <a:r>
              <a:rPr sz="24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资金积累有更多的购买力</a:t>
            </a:r>
            <a:r>
              <a:rPr sz="1800" kern="0" spc="-1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13055" algn="l" rtl="0" eaLnBrk="0">
              <a:lnSpc>
                <a:spcPts val="2775"/>
              </a:lnSpc>
              <a:spcBef>
                <a:spcPts val="1535"/>
              </a:spcBef>
            </a:pPr>
            <a:r>
              <a:rPr sz="2300" b="1" kern="0" spc="-1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空闲时间多；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7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11785" algn="l" rtl="0" eaLnBrk="0">
              <a:lnSpc>
                <a:spcPct val="97000"/>
              </a:lnSpc>
              <a:spcBef>
                <a:spcPts val="5"/>
              </a:spcBef>
            </a:pPr>
            <a:r>
              <a:rPr sz="2400" b="1" kern="0" spc="-16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易被促销策略影响；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6" name="textbox 356"/>
          <p:cNvSpPr/>
          <p:nvPr/>
        </p:nvSpPr>
        <p:spPr>
          <a:xfrm>
            <a:off x="417068" y="318033"/>
            <a:ext cx="8742044" cy="3797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2400" b="1" kern="0" spc="12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通过促销策略，</a:t>
            </a:r>
            <a:r>
              <a:rPr sz="2400" b="1" kern="0" spc="25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400" b="1" kern="0" spc="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WD</a:t>
            </a:r>
            <a:r>
              <a:rPr sz="2400" b="1" kern="0" spc="-32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kern="0" spc="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GC</a:t>
            </a:r>
            <a:r>
              <a:rPr sz="2400" b="1" kern="0" spc="-35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kern="0" spc="12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多吸引了</a:t>
            </a:r>
            <a:r>
              <a:rPr sz="2400" b="1" kern="0" spc="-38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kern="0" spc="12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</a:t>
            </a:r>
            <a:r>
              <a:rPr sz="2400" b="1" kern="0" spc="-34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kern="0" spc="12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岁以上的高</a:t>
            </a:r>
            <a:r>
              <a:rPr sz="2400" b="1" kern="0" spc="11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资产人群。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58" name="picture 3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91668" y="766571"/>
            <a:ext cx="11800331" cy="71628"/>
          </a:xfrm>
          <a:prstGeom prst="rect">
            <a:avLst/>
          </a:prstGeom>
        </p:spPr>
      </p:pic>
      <p:sp>
        <p:nvSpPr>
          <p:cNvPr id="360" name="textbox 360"/>
          <p:cNvSpPr/>
          <p:nvPr/>
        </p:nvSpPr>
        <p:spPr>
          <a:xfrm>
            <a:off x="11867514" y="6617461"/>
            <a:ext cx="173354" cy="1600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3000"/>
              </a:lnSpc>
            </a:pPr>
            <a:r>
              <a:rPr sz="1200" kern="0" spc="-30" dirty="0">
                <a:solidFill>
                  <a:srgbClr val="89898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34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picture 3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326379" y="1083564"/>
            <a:ext cx="6865619" cy="5492495"/>
          </a:xfrm>
          <a:prstGeom prst="rect">
            <a:avLst/>
          </a:prstGeom>
        </p:spPr>
      </p:pic>
      <p:sp>
        <p:nvSpPr>
          <p:cNvPr id="364" name="textbox 364"/>
          <p:cNvSpPr/>
          <p:nvPr/>
        </p:nvSpPr>
        <p:spPr>
          <a:xfrm>
            <a:off x="333756" y="1237488"/>
            <a:ext cx="4775200" cy="5255259"/>
          </a:xfrm>
          <a:prstGeom prst="rect">
            <a:avLst/>
          </a:prstGeom>
          <a:solidFill>
            <a:srgbClr val="49989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11785" algn="l" rtl="0" eaLnBrk="0">
              <a:lnSpc>
                <a:spcPct val="139000"/>
              </a:lnSpc>
              <a:spcBef>
                <a:spcPts val="5"/>
              </a:spcBef>
            </a:pPr>
            <a:r>
              <a:rPr sz="1800" kern="0" spc="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在5月门店新注册会员数对比中，</a:t>
            </a:r>
            <a:r>
              <a:rPr sz="1800" kern="0" spc="-1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WDGC</a:t>
            </a:r>
            <a:r>
              <a:rPr sz="1800" kern="0" spc="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sz="1800" kern="0" spc="-3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拥有更多的新注册会</a:t>
            </a:r>
            <a:r>
              <a:rPr sz="1800" kern="0" spc="-4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员。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12420" algn="l" rtl="0" eaLnBrk="0">
              <a:lnSpc>
                <a:spcPct val="97000"/>
              </a:lnSpc>
              <a:spcBef>
                <a:spcPts val="1145"/>
              </a:spcBef>
            </a:pPr>
            <a:r>
              <a:rPr sz="1800" kern="0" spc="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其中5月25日的新增会员激增，可判</a:t>
            </a:r>
            <a:r>
              <a:rPr sz="1800" kern="0" spc="-10" dirty="0">
                <a:solidFill>
                  <a:srgbClr val="C5E0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0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14325" indent="-635" algn="l" rtl="0" eaLnBrk="0">
              <a:lnSpc>
                <a:spcPct val="124000"/>
              </a:lnSpc>
            </a:pPr>
            <a:r>
              <a:rPr sz="24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促销策略可吸引更多的新增会</a:t>
            </a:r>
            <a:r>
              <a:rPr sz="2400" b="1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sz="2400" b="1" kern="0" spc="-1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员。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6" name="textbox 366"/>
          <p:cNvSpPr/>
          <p:nvPr/>
        </p:nvSpPr>
        <p:spPr>
          <a:xfrm>
            <a:off x="415239" y="318033"/>
            <a:ext cx="9320530" cy="3784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2400" b="1" kern="0" spc="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WD</a:t>
            </a:r>
            <a:r>
              <a:rPr sz="2400" b="1" kern="0" spc="-33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kern="0" spc="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GC</a:t>
            </a:r>
            <a:r>
              <a:rPr sz="2400" b="1" kern="0" spc="-37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kern="0" spc="24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拥有更多新增会员，通过促销吸引大量的</a:t>
            </a:r>
            <a:r>
              <a:rPr sz="2400" b="1" kern="0" spc="23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新注册会员。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68" name="picture 36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91668" y="766571"/>
            <a:ext cx="11800331" cy="71628"/>
          </a:xfrm>
          <a:prstGeom prst="rect">
            <a:avLst/>
          </a:prstGeom>
        </p:spPr>
      </p:pic>
      <p:sp>
        <p:nvSpPr>
          <p:cNvPr id="370" name="textbox 370"/>
          <p:cNvSpPr/>
          <p:nvPr/>
        </p:nvSpPr>
        <p:spPr>
          <a:xfrm>
            <a:off x="11867514" y="6617461"/>
            <a:ext cx="173354" cy="1600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3000"/>
              </a:lnSpc>
            </a:pPr>
            <a:r>
              <a:rPr sz="1200" kern="0" spc="-30" dirty="0">
                <a:solidFill>
                  <a:srgbClr val="89898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35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30"/>
          <p:cNvGrpSpPr/>
          <p:nvPr/>
        </p:nvGrpSpPr>
        <p:grpSpPr>
          <a:xfrm rot="21600000">
            <a:off x="8618219" y="1909571"/>
            <a:ext cx="2427732" cy="2429256"/>
            <a:chOff x="0" y="0"/>
            <a:chExt cx="2427732" cy="2429256"/>
          </a:xfrm>
        </p:grpSpPr>
        <p:sp>
          <p:nvSpPr>
            <p:cNvPr id="372" name="path 372"/>
            <p:cNvSpPr/>
            <p:nvPr/>
          </p:nvSpPr>
          <p:spPr>
            <a:xfrm>
              <a:off x="0" y="0"/>
              <a:ext cx="2427732" cy="2429256"/>
            </a:xfrm>
            <a:custGeom>
              <a:avLst/>
              <a:gdLst/>
              <a:ahLst/>
              <a:cxnLst/>
              <a:rect l="0" t="0" r="0" b="0"/>
              <a:pathLst>
                <a:path w="3823" h="3825">
                  <a:moveTo>
                    <a:pt x="0" y="1912"/>
                  </a:moveTo>
                  <a:cubicBezTo>
                    <a:pt x="0" y="856"/>
                    <a:pt x="855" y="0"/>
                    <a:pt x="1911" y="0"/>
                  </a:cubicBezTo>
                  <a:cubicBezTo>
                    <a:pt x="2967" y="0"/>
                    <a:pt x="3823" y="856"/>
                    <a:pt x="3823" y="1912"/>
                  </a:cubicBezTo>
                  <a:cubicBezTo>
                    <a:pt x="3823" y="2969"/>
                    <a:pt x="2967" y="3825"/>
                    <a:pt x="1911" y="3825"/>
                  </a:cubicBezTo>
                  <a:cubicBezTo>
                    <a:pt x="855" y="3825"/>
                    <a:pt x="0" y="2969"/>
                    <a:pt x="0" y="1912"/>
                  </a:cubicBezTo>
                </a:path>
              </a:pathLst>
            </a:custGeom>
            <a:solidFill>
              <a:srgbClr val="49989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74" name="textbox 374"/>
            <p:cNvSpPr/>
            <p:nvPr/>
          </p:nvSpPr>
          <p:spPr>
            <a:xfrm>
              <a:off x="-12700" y="-12700"/>
              <a:ext cx="2453639" cy="248729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445770" indent="635" algn="l" rtl="0" eaLnBrk="0">
                <a:lnSpc>
                  <a:spcPct val="102000"/>
                </a:lnSpc>
                <a:spcBef>
                  <a:spcPts val="5"/>
                </a:spcBef>
              </a:pPr>
              <a:r>
                <a:rPr sz="2700" b="1" kern="0" spc="30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促销策略</a:t>
              </a:r>
              <a:r>
                <a:rPr sz="2700" b="1" kern="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 </a:t>
              </a:r>
              <a:r>
                <a:rPr sz="2700" b="1" kern="0" spc="30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拉新明显</a:t>
              </a:r>
              <a:endParaRPr sz="2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 rot="21600000">
            <a:off x="1219200" y="1909571"/>
            <a:ext cx="2427732" cy="2429256"/>
            <a:chOff x="0" y="0"/>
            <a:chExt cx="2427732" cy="2429256"/>
          </a:xfrm>
        </p:grpSpPr>
        <p:sp>
          <p:nvSpPr>
            <p:cNvPr id="376" name="path 376"/>
            <p:cNvSpPr/>
            <p:nvPr/>
          </p:nvSpPr>
          <p:spPr>
            <a:xfrm>
              <a:off x="0" y="0"/>
              <a:ext cx="2427732" cy="2429256"/>
            </a:xfrm>
            <a:custGeom>
              <a:avLst/>
              <a:gdLst/>
              <a:ahLst/>
              <a:cxnLst/>
              <a:rect l="0" t="0" r="0" b="0"/>
              <a:pathLst>
                <a:path w="3823" h="3825">
                  <a:moveTo>
                    <a:pt x="0" y="1912"/>
                  </a:moveTo>
                  <a:cubicBezTo>
                    <a:pt x="0" y="856"/>
                    <a:pt x="855" y="0"/>
                    <a:pt x="1911" y="0"/>
                  </a:cubicBezTo>
                  <a:cubicBezTo>
                    <a:pt x="2967" y="0"/>
                    <a:pt x="3823" y="856"/>
                    <a:pt x="3823" y="1912"/>
                  </a:cubicBezTo>
                  <a:cubicBezTo>
                    <a:pt x="3823" y="2969"/>
                    <a:pt x="2967" y="3825"/>
                    <a:pt x="1911" y="3825"/>
                  </a:cubicBezTo>
                  <a:cubicBezTo>
                    <a:pt x="855" y="3825"/>
                    <a:pt x="0" y="2969"/>
                    <a:pt x="0" y="1912"/>
                  </a:cubicBezTo>
                </a:path>
              </a:pathLst>
            </a:custGeom>
            <a:solidFill>
              <a:srgbClr val="49989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78" name="textbox 378"/>
            <p:cNvSpPr/>
            <p:nvPr/>
          </p:nvSpPr>
          <p:spPr>
            <a:xfrm>
              <a:off x="-12700" y="-12700"/>
              <a:ext cx="2453639" cy="249173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442595" indent="1905" algn="l" rtl="0" eaLnBrk="0">
                <a:lnSpc>
                  <a:spcPct val="102000"/>
                </a:lnSpc>
                <a:spcBef>
                  <a:spcPts val="0"/>
                </a:spcBef>
              </a:pPr>
              <a:r>
                <a:rPr sz="2700" b="1" kern="0" spc="30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潜在市场</a:t>
              </a:r>
              <a:r>
                <a:rPr sz="2700" b="1" kern="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 </a:t>
              </a:r>
              <a:r>
                <a:rPr sz="2700" b="1" kern="0" spc="30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女&amp;40+</a:t>
              </a:r>
              <a:endParaRPr sz="2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 rot="21600000">
            <a:off x="4917948" y="1909571"/>
            <a:ext cx="2427732" cy="2429256"/>
            <a:chOff x="0" y="0"/>
            <a:chExt cx="2427732" cy="2429256"/>
          </a:xfrm>
        </p:grpSpPr>
        <p:sp>
          <p:nvSpPr>
            <p:cNvPr id="380" name="path 380"/>
            <p:cNvSpPr/>
            <p:nvPr/>
          </p:nvSpPr>
          <p:spPr>
            <a:xfrm>
              <a:off x="0" y="0"/>
              <a:ext cx="2427732" cy="2429256"/>
            </a:xfrm>
            <a:custGeom>
              <a:avLst/>
              <a:gdLst/>
              <a:ahLst/>
              <a:cxnLst/>
              <a:rect l="0" t="0" r="0" b="0"/>
              <a:pathLst>
                <a:path w="3823" h="3825">
                  <a:moveTo>
                    <a:pt x="0" y="1912"/>
                  </a:moveTo>
                  <a:cubicBezTo>
                    <a:pt x="0" y="856"/>
                    <a:pt x="855" y="0"/>
                    <a:pt x="1911" y="0"/>
                  </a:cubicBezTo>
                  <a:cubicBezTo>
                    <a:pt x="2967" y="0"/>
                    <a:pt x="3823" y="856"/>
                    <a:pt x="3823" y="1912"/>
                  </a:cubicBezTo>
                  <a:cubicBezTo>
                    <a:pt x="3823" y="2969"/>
                    <a:pt x="2967" y="3825"/>
                    <a:pt x="1911" y="3825"/>
                  </a:cubicBezTo>
                  <a:cubicBezTo>
                    <a:pt x="855" y="3825"/>
                    <a:pt x="0" y="2969"/>
                    <a:pt x="0" y="1912"/>
                  </a:cubicBezTo>
                </a:path>
              </a:pathLst>
            </a:custGeom>
            <a:solidFill>
              <a:srgbClr val="49989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82" name="textbox 382"/>
            <p:cNvSpPr/>
            <p:nvPr/>
          </p:nvSpPr>
          <p:spPr>
            <a:xfrm>
              <a:off x="-12700" y="-12700"/>
              <a:ext cx="2453639" cy="249047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9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844550" algn="l" rtl="0" eaLnBrk="0">
                <a:lnSpc>
                  <a:spcPct val="100000"/>
                </a:lnSpc>
              </a:pPr>
              <a:r>
                <a:rPr sz="2700" b="1" kern="0" spc="20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早晚</a:t>
              </a:r>
              <a:endParaRPr sz="2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250190" algn="l" rtl="0" eaLnBrk="0">
                <a:lnSpc>
                  <a:spcPts val="3255"/>
                </a:lnSpc>
                <a:spcBef>
                  <a:spcPts val="105"/>
                </a:spcBef>
              </a:pPr>
              <a:r>
                <a:rPr sz="2700" b="1" kern="0" spc="32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消费高峰期</a:t>
              </a:r>
              <a:endParaRPr sz="2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384" name="textbox 384"/>
          <p:cNvSpPr/>
          <p:nvPr/>
        </p:nvSpPr>
        <p:spPr>
          <a:xfrm>
            <a:off x="1108775" y="4988783"/>
            <a:ext cx="2655570" cy="11855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780" algn="l" rtl="0" eaLnBrk="0">
              <a:lnSpc>
                <a:spcPct val="87000"/>
              </a:lnSpc>
            </a:pPr>
            <a:r>
              <a:rPr sz="1400" kern="0" spc="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CDLG</a:t>
            </a:r>
            <a:r>
              <a:rPr sz="1400" kern="0" spc="2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增强销售业绩，</a:t>
            </a:r>
            <a:r>
              <a:rPr sz="1400" kern="0" spc="-22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400" kern="0" spc="2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可瞄准有很</a:t>
            </a:r>
            <a:endParaRPr sz="14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12700" indent="3810" algn="l" rtl="0" eaLnBrk="0">
              <a:lnSpc>
                <a:spcPct val="152000"/>
              </a:lnSpc>
              <a:spcBef>
                <a:spcPts val="10"/>
              </a:spcBef>
            </a:pPr>
            <a:r>
              <a:rPr sz="1400" kern="0" spc="6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大开采潜力的女性消费市场及40</a:t>
            </a:r>
            <a:r>
              <a:rPr sz="1400" kern="0" spc="7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400" kern="0" spc="6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岁以上人群市场</a:t>
            </a:r>
            <a:r>
              <a:rPr sz="1400" kern="0" spc="-12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400" kern="0" spc="6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，针对这部</a:t>
            </a:r>
            <a:r>
              <a:rPr sz="1400" kern="0" spc="5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分人</a:t>
            </a:r>
            <a:r>
              <a:rPr sz="1400" kern="0" spc="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400" kern="0" spc="-1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群设计促销策略。</a:t>
            </a:r>
            <a:endParaRPr sz="14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86" name="textbox 386"/>
          <p:cNvSpPr/>
          <p:nvPr/>
        </p:nvSpPr>
        <p:spPr>
          <a:xfrm>
            <a:off x="8509933" y="4988783"/>
            <a:ext cx="2654300" cy="11887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1590" algn="l" rtl="0" eaLnBrk="0">
              <a:lnSpc>
                <a:spcPct val="87000"/>
              </a:lnSpc>
            </a:pPr>
            <a:r>
              <a:rPr sz="1400" kern="0" spc="5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除了日常运营</a:t>
            </a:r>
            <a:r>
              <a:rPr sz="1400" kern="0" spc="-8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400" kern="0" spc="5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，促销策略也对新</a:t>
            </a:r>
            <a:endParaRPr sz="14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12700" indent="2540" algn="l" rtl="0" eaLnBrk="0">
              <a:lnSpc>
                <a:spcPct val="152000"/>
              </a:lnSpc>
              <a:spcBef>
                <a:spcPts val="35"/>
              </a:spcBef>
            </a:pPr>
            <a:r>
              <a:rPr sz="1400" kern="0" spc="6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增会员顾客具有很明显的影响</a:t>
            </a:r>
            <a:r>
              <a:rPr sz="1400" kern="0" spc="-7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400" kern="0" spc="6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。</a:t>
            </a:r>
            <a:r>
              <a:rPr sz="1400" kern="0" spc="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400" kern="0" spc="8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可适当利用促销策略作</a:t>
            </a:r>
            <a:r>
              <a:rPr sz="1400" kern="0" spc="7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为拉新手</a:t>
            </a:r>
            <a:r>
              <a:rPr sz="1400" kern="0" spc="-1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400" kern="0" spc="-3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段。</a:t>
            </a:r>
            <a:endParaRPr sz="14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88" name="textbox 388"/>
          <p:cNvSpPr/>
          <p:nvPr/>
        </p:nvSpPr>
        <p:spPr>
          <a:xfrm>
            <a:off x="4808030" y="4988783"/>
            <a:ext cx="2656204" cy="8674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400" kern="0" spc="8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促销策略投放时机如果利用</a:t>
            </a:r>
            <a:r>
              <a:rPr sz="1400" kern="0" spc="7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好早</a:t>
            </a:r>
            <a:endParaRPr sz="14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16510" indent="3175" algn="l" rtl="0" eaLnBrk="0">
              <a:lnSpc>
                <a:spcPct val="153000"/>
              </a:lnSpc>
              <a:spcBef>
                <a:spcPts val="25"/>
              </a:spcBef>
            </a:pPr>
            <a:r>
              <a:rPr sz="1400" kern="0" spc="5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晚的消费高峰期</a:t>
            </a:r>
            <a:r>
              <a:rPr sz="1400" kern="0" spc="-5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400" kern="0" spc="5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，会受到业绩提</a:t>
            </a:r>
            <a:r>
              <a:rPr sz="1400" kern="0" spc="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400" kern="0" spc="-10" dirty="0">
                <a:solidFill>
                  <a:srgbClr val="49989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升的加成影响。</a:t>
            </a:r>
            <a:endParaRPr sz="14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90" name="textbox 390"/>
          <p:cNvSpPr/>
          <p:nvPr/>
        </p:nvSpPr>
        <p:spPr>
          <a:xfrm>
            <a:off x="430174" y="318033"/>
            <a:ext cx="4476750" cy="3816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2400" b="1" kern="0" spc="24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门店销售情况分析小结——</a:t>
            </a:r>
            <a:r>
              <a:rPr sz="2400" b="1" kern="0" spc="-35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kern="0" spc="24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92" name="picture 39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91668" y="766571"/>
            <a:ext cx="11800331" cy="71628"/>
          </a:xfrm>
          <a:prstGeom prst="rect">
            <a:avLst/>
          </a:prstGeom>
        </p:spPr>
      </p:pic>
      <p:sp>
        <p:nvSpPr>
          <p:cNvPr id="394" name="textbox 394"/>
          <p:cNvSpPr/>
          <p:nvPr/>
        </p:nvSpPr>
        <p:spPr>
          <a:xfrm>
            <a:off x="11867514" y="6617461"/>
            <a:ext cx="173354" cy="1600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3000"/>
              </a:lnSpc>
            </a:pPr>
            <a:r>
              <a:rPr sz="1200" kern="0" spc="-30" dirty="0">
                <a:solidFill>
                  <a:srgbClr val="89898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36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rect 396"/>
          <p:cNvSpPr/>
          <p:nvPr/>
        </p:nvSpPr>
        <p:spPr>
          <a:xfrm>
            <a:off x="0" y="0"/>
            <a:ext cx="4658867" cy="6857998"/>
          </a:xfrm>
          <a:prstGeom prst="rect">
            <a:avLst/>
          </a:prstGeom>
          <a:solidFill>
            <a:srgbClr val="49989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98" name="textbox 398"/>
          <p:cNvSpPr/>
          <p:nvPr/>
        </p:nvSpPr>
        <p:spPr>
          <a:xfrm>
            <a:off x="6258204" y="1125448"/>
            <a:ext cx="3404234" cy="29597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0640" algn="l" rtl="0" eaLnBrk="0">
              <a:lnSpc>
                <a:spcPct val="99000"/>
              </a:lnSpc>
            </a:pPr>
            <a:r>
              <a:rPr sz="3600" kern="0" spc="-2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</a:t>
            </a:r>
            <a:endParaRPr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2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90000"/>
              </a:lnSpc>
              <a:spcBef>
                <a:spcPts val="540"/>
              </a:spcBef>
            </a:pPr>
            <a:r>
              <a:rPr sz="1800" kern="0" spc="-5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sz="1800" kern="0" spc="15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5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1800" kern="0" spc="21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800" kern="0" spc="-5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sz="1800" kern="0" spc="23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800" kern="0" spc="-5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</a:t>
            </a:r>
            <a:r>
              <a:rPr sz="1800" kern="0" spc="23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5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 背 景 与</a:t>
            </a:r>
            <a:r>
              <a:rPr sz="1800" kern="0" spc="9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5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 题 需</a:t>
            </a:r>
            <a:r>
              <a:rPr sz="1800" kern="0" spc="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5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</a:t>
            </a:r>
            <a:r>
              <a:rPr sz="1800" kern="0" spc="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2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 2   /   </a:t>
            </a:r>
            <a:r>
              <a:rPr sz="1800" kern="0" spc="-3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影 响</a:t>
            </a:r>
            <a:r>
              <a:rPr sz="1800" kern="0" spc="11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3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 素 拆 解 思 路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3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  <a:spcBef>
                <a:spcPts val="545"/>
              </a:spcBef>
            </a:pPr>
            <a:r>
              <a:rPr sz="1800" kern="0" spc="-2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 3   /   可 视 化 </a:t>
            </a:r>
            <a:r>
              <a:rPr sz="1800" kern="0" spc="-3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 析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4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  <a:spcBef>
                <a:spcPts val="5"/>
              </a:spcBef>
            </a:pP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0 4</a:t>
            </a:r>
            <a:r>
              <a:rPr sz="1800" kern="0" spc="2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sz="1800" kern="0" spc="2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 析 结 论 与 改 进 建 议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0" name="textbox 400"/>
          <p:cNvSpPr/>
          <p:nvPr/>
        </p:nvSpPr>
        <p:spPr>
          <a:xfrm>
            <a:off x="11867514" y="6617461"/>
            <a:ext cx="173354" cy="1600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3000"/>
              </a:lnSpc>
            </a:pPr>
            <a:r>
              <a:rPr sz="1200" kern="0" spc="-30" dirty="0">
                <a:solidFill>
                  <a:srgbClr val="89898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37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textbox 402"/>
          <p:cNvSpPr/>
          <p:nvPr/>
        </p:nvSpPr>
        <p:spPr>
          <a:xfrm>
            <a:off x="4021230" y="1734432"/>
            <a:ext cx="8009255" cy="44811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240" algn="l" rtl="0" eaLnBrk="0">
              <a:lnSpc>
                <a:spcPct val="97000"/>
              </a:lnSpc>
            </a:pPr>
            <a:r>
              <a:rPr sz="1400" kern="0" spc="-1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两年毛利率水平相同、销量有所下降，说明整体市场</a:t>
            </a:r>
            <a:r>
              <a:rPr sz="1400" kern="0" spc="-2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及经济情况都不太好，处于市场经济下行阶段。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685" indent="6350" algn="l" rtl="0" eaLnBrk="0">
              <a:lnSpc>
                <a:spcPct val="139000"/>
              </a:lnSpc>
              <a:spcBef>
                <a:spcPts val="430"/>
              </a:spcBef>
            </a:pPr>
            <a:r>
              <a:rPr sz="1400" kern="0" spc="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5月份两家门店的订单总量差异不大，库存结构相似，但CDLG</a:t>
            </a:r>
            <a:r>
              <a:rPr sz="1400" kern="0" spc="-1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销售额偏低，在同样市场环境下，</a:t>
            </a:r>
            <a:r>
              <a:rPr sz="1400" kern="0" spc="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CDLG没有过多有针对性的促销策略，并且较高库存进一步增加了</a:t>
            </a:r>
            <a:r>
              <a:rPr sz="1400" kern="0" spc="-1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运营成本，压缩利润空间。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2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9210" algn="l" rtl="0" eaLnBrk="0">
              <a:lnSpc>
                <a:spcPct val="97000"/>
              </a:lnSpc>
              <a:spcBef>
                <a:spcPts val="425"/>
              </a:spcBef>
            </a:pPr>
            <a:r>
              <a:rPr sz="1400" kern="0" spc="1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  通过整年的促销</a:t>
            </a:r>
            <a:r>
              <a:rPr sz="1400" kern="0" spc="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策略部署使整体门店销售业绩高于CDLG。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1590" algn="l" rtl="0" eaLnBrk="0">
              <a:lnSpc>
                <a:spcPct val="97000"/>
              </a:lnSpc>
              <a:spcBef>
                <a:spcPts val="895"/>
              </a:spcBef>
            </a:pPr>
            <a:r>
              <a:rPr sz="1400" kern="0" spc="-1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   目标覆盖人群中多增加了女性人群及40岁以上高购</a:t>
            </a:r>
            <a:r>
              <a:rPr sz="1400" kern="0" spc="-2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买力人群的群体，目标人群易受促销策略影响。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3495" algn="l" rtl="0" eaLnBrk="0">
              <a:lnSpc>
                <a:spcPct val="97000"/>
              </a:lnSpc>
              <a:spcBef>
                <a:spcPts val="885"/>
              </a:spcBef>
            </a:pPr>
            <a:r>
              <a:rPr sz="1400" kern="0" spc="-1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</a:t>
            </a:r>
            <a:r>
              <a:rPr sz="1400" kern="0" spc="10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1400" kern="0" spc="-1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针对目标人群特征针对性的针对消费时间进行促销规划</a:t>
            </a:r>
            <a:r>
              <a:rPr sz="1400" kern="0" spc="-2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，如周初、周末及日常通勤时间等。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97000"/>
              </a:lnSpc>
              <a:spcBef>
                <a:spcPts val="895"/>
              </a:spcBef>
            </a:pPr>
            <a:r>
              <a:rPr sz="1400" kern="0" spc="-8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</a:t>
            </a:r>
            <a:r>
              <a:rPr sz="1400" kern="0" spc="10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1400" kern="0" spc="-8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促销拉新效果显著。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9210" algn="l" rtl="0" eaLnBrk="0">
              <a:lnSpc>
                <a:spcPts val="1625"/>
              </a:lnSpc>
              <a:spcBef>
                <a:spcPts val="1480"/>
              </a:spcBef>
            </a:pPr>
            <a:r>
              <a:rPr sz="1300" kern="0" spc="-3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sz="1300" kern="0" spc="12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-3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了解客户群体；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1590" algn="l" rtl="0" eaLnBrk="0">
              <a:lnSpc>
                <a:spcPct val="97000"/>
              </a:lnSpc>
              <a:spcBef>
                <a:spcPts val="905"/>
              </a:spcBef>
            </a:pPr>
            <a:r>
              <a:rPr sz="1400" kern="0" spc="-7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提升针对性促销策</a:t>
            </a:r>
            <a:r>
              <a:rPr sz="1400" kern="0" spc="-8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略；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3495" algn="l" rtl="0" eaLnBrk="0">
              <a:lnSpc>
                <a:spcPct val="97000"/>
              </a:lnSpc>
              <a:spcBef>
                <a:spcPts val="890"/>
              </a:spcBef>
            </a:pPr>
            <a:r>
              <a:rPr sz="1400" kern="0" spc="-2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提升存货周转，提升销</a:t>
            </a:r>
            <a:r>
              <a:rPr sz="1400" kern="0" spc="-3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售同时降低库存成本；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5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  <a:spcBef>
                <a:spcPts val="0"/>
              </a:spcBef>
            </a:pPr>
            <a:r>
              <a:rPr sz="1400" kern="0" spc="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提升新客人数，并增强粘性留住消费客户。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4" name="textbox 404"/>
          <p:cNvSpPr/>
          <p:nvPr/>
        </p:nvSpPr>
        <p:spPr>
          <a:xfrm>
            <a:off x="391668" y="1395984"/>
            <a:ext cx="3324225" cy="809625"/>
          </a:xfrm>
          <a:prstGeom prst="rect">
            <a:avLst/>
          </a:prstGeom>
          <a:solidFill>
            <a:srgbClr val="49989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8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46430" algn="l" rtl="0" eaLnBrk="0">
              <a:lnSpc>
                <a:spcPct val="98000"/>
              </a:lnSpc>
              <a:spcBef>
                <a:spcPts val="5"/>
              </a:spcBef>
            </a:pP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整体市场经济下行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6" name="textbox 406"/>
          <p:cNvSpPr/>
          <p:nvPr/>
        </p:nvSpPr>
        <p:spPr>
          <a:xfrm>
            <a:off x="391668" y="2552700"/>
            <a:ext cx="3324225" cy="809625"/>
          </a:xfrm>
          <a:prstGeom prst="rect">
            <a:avLst/>
          </a:prstGeom>
          <a:solidFill>
            <a:srgbClr val="49989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8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60070" algn="l" rtl="0" eaLnBrk="0">
              <a:lnSpc>
                <a:spcPct val="97000"/>
              </a:lnSpc>
              <a:spcBef>
                <a:spcPts val="5"/>
              </a:spcBef>
            </a:pPr>
            <a:r>
              <a:rPr sz="2000" b="1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CDLG问题源于自身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8" name="textbox 408"/>
          <p:cNvSpPr/>
          <p:nvPr/>
        </p:nvSpPr>
        <p:spPr>
          <a:xfrm>
            <a:off x="391668" y="3805428"/>
            <a:ext cx="3324225" cy="809625"/>
          </a:xfrm>
          <a:prstGeom prst="rect">
            <a:avLst/>
          </a:prstGeom>
          <a:solidFill>
            <a:srgbClr val="49989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9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56870" algn="l" rtl="0" eaLnBrk="0">
              <a:lnSpc>
                <a:spcPct val="97000"/>
              </a:lnSpc>
              <a:spcBef>
                <a:spcPts val="5"/>
              </a:spcBef>
            </a:pPr>
            <a:r>
              <a:rPr sz="20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WDCG因促销策略成功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0" name="textbox 410"/>
          <p:cNvSpPr/>
          <p:nvPr/>
        </p:nvSpPr>
        <p:spPr>
          <a:xfrm>
            <a:off x="391668" y="5161788"/>
            <a:ext cx="3324225" cy="809625"/>
          </a:xfrm>
          <a:prstGeom prst="rect">
            <a:avLst/>
          </a:prstGeom>
          <a:solidFill>
            <a:srgbClr val="49989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</a:pP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159510" indent="-718185" algn="l" rtl="0" eaLnBrk="0">
              <a:lnSpc>
                <a:spcPct val="99000"/>
              </a:lnSpc>
              <a:spcBef>
                <a:spcPts val="5"/>
              </a:spcBef>
            </a:pPr>
            <a:r>
              <a:rPr sz="20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C店需根据自身问题点</a:t>
            </a: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sz="20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强化运营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12" name="picture 4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91668" y="766571"/>
            <a:ext cx="11800331" cy="71628"/>
          </a:xfrm>
          <a:prstGeom prst="rect">
            <a:avLst/>
          </a:prstGeom>
        </p:spPr>
      </p:pic>
      <p:sp>
        <p:nvSpPr>
          <p:cNvPr id="414" name="textbox 414"/>
          <p:cNvSpPr/>
          <p:nvPr/>
        </p:nvSpPr>
        <p:spPr>
          <a:xfrm>
            <a:off x="415544" y="318033"/>
            <a:ext cx="1356994" cy="3816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2400" b="1" kern="0" spc="21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分析结论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6" name="textbox 416"/>
          <p:cNvSpPr/>
          <p:nvPr/>
        </p:nvSpPr>
        <p:spPr>
          <a:xfrm>
            <a:off x="11867514" y="6617461"/>
            <a:ext cx="173354" cy="1600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3000"/>
              </a:lnSpc>
            </a:pPr>
            <a:r>
              <a:rPr sz="1200" kern="0" spc="-30" dirty="0">
                <a:solidFill>
                  <a:srgbClr val="89898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38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textbox 418"/>
          <p:cNvSpPr/>
          <p:nvPr/>
        </p:nvSpPr>
        <p:spPr>
          <a:xfrm>
            <a:off x="3941063" y="3051047"/>
            <a:ext cx="8098790" cy="1260475"/>
          </a:xfrm>
          <a:prstGeom prst="rect">
            <a:avLst/>
          </a:prstGeom>
          <a:solidFill>
            <a:srgbClr val="49989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76555" indent="-7620" algn="l" rtl="0" eaLnBrk="0">
              <a:lnSpc>
                <a:spcPct val="139000"/>
              </a:lnSpc>
            </a:pP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针对调研后的目标人群的偏好特征</a:t>
            </a:r>
            <a:r>
              <a:rPr sz="1400" kern="0" spc="-20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，找到潜在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新客人群（如女性、中老年顾客等），根据调研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</a:t>
            </a:r>
            <a:r>
              <a:rPr sz="1400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的消费高峰时段特征，指定有针对性的促销</a:t>
            </a:r>
            <a:r>
              <a:rPr sz="14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活动设计，制定促销策略来持续刺激目标顾客消费。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0" name="textbox 420"/>
          <p:cNvSpPr/>
          <p:nvPr/>
        </p:nvSpPr>
        <p:spPr>
          <a:xfrm>
            <a:off x="3941063" y="4771644"/>
            <a:ext cx="8098790" cy="1260475"/>
          </a:xfrm>
          <a:prstGeom prst="rect">
            <a:avLst/>
          </a:prstGeom>
          <a:solidFill>
            <a:srgbClr val="49989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57860" indent="-281305" algn="l" rtl="0" eaLnBrk="0">
              <a:lnSpc>
                <a:spcPct val="124000"/>
              </a:lnSpc>
            </a:pPr>
            <a:r>
              <a:rPr sz="1400" kern="0" spc="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 </a:t>
            </a:r>
            <a:r>
              <a:rPr sz="14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通过促销策略，提升新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增顾客，增强老顾客消费粘性，进一步在提升销售额的同时增强存        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货周转能力，减少存货成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本。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5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76555" algn="l" rtl="0" eaLnBrk="0">
              <a:lnSpc>
                <a:spcPct val="97000"/>
              </a:lnSpc>
            </a:pP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 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通过促销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活动调研消费人群偏好进行策略验证，不断迭代运营策略，形成良性循环。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2" name="textbox 422"/>
          <p:cNvSpPr/>
          <p:nvPr/>
        </p:nvSpPr>
        <p:spPr>
          <a:xfrm>
            <a:off x="3941063" y="1313688"/>
            <a:ext cx="8098790" cy="1259205"/>
          </a:xfrm>
          <a:prstGeom prst="rect">
            <a:avLst/>
          </a:prstGeom>
          <a:solidFill>
            <a:srgbClr val="49989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69570" indent="5715" algn="l" rtl="0" eaLnBrk="0">
              <a:lnSpc>
                <a:spcPct val="140000"/>
              </a:lnSpc>
            </a:pP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CDLG门店需要针对自店商圈内的消费顾客人群做更加详细的需求调研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，根据调研结果及目标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人群偏好制定促销策略。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4" name="textbox 424"/>
          <p:cNvSpPr/>
          <p:nvPr/>
        </p:nvSpPr>
        <p:spPr>
          <a:xfrm>
            <a:off x="898912" y="1605121"/>
            <a:ext cx="2312670" cy="42373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64210" algn="l" rtl="0" eaLnBrk="0">
              <a:lnSpc>
                <a:spcPts val="2330"/>
              </a:lnSpc>
            </a:pPr>
            <a:r>
              <a:rPr sz="1800" b="1" kern="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 需</a:t>
            </a:r>
            <a:r>
              <a:rPr sz="1800" b="1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kern="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 】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95605" algn="l" rtl="0" eaLnBrk="0">
              <a:lnSpc>
                <a:spcPct val="97000"/>
              </a:lnSpc>
              <a:spcBef>
                <a:spcPts val="1275"/>
              </a:spcBef>
            </a:pPr>
            <a:r>
              <a:rPr sz="2000" b="1" kern="0" spc="-1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增强顾客调研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64210" algn="l" rtl="0" eaLnBrk="0">
              <a:lnSpc>
                <a:spcPts val="2320"/>
              </a:lnSpc>
              <a:spcBef>
                <a:spcPts val="545"/>
              </a:spcBef>
            </a:pPr>
            <a:r>
              <a:rPr sz="1800" b="1" kern="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 开 拓 】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650240" algn="l" rtl="0" eaLnBrk="0">
              <a:lnSpc>
                <a:spcPct val="98000"/>
              </a:lnSpc>
              <a:spcBef>
                <a:spcPts val="1275"/>
              </a:spcBef>
            </a:pPr>
            <a:r>
              <a:rPr sz="2000" b="1" kern="0" spc="-1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促销策略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64210" algn="l" rtl="0" eaLnBrk="0">
              <a:lnSpc>
                <a:spcPts val="2320"/>
              </a:lnSpc>
              <a:spcBef>
                <a:spcPts val="545"/>
              </a:spcBef>
            </a:pPr>
            <a:r>
              <a:rPr sz="1800" b="1" kern="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 运 营 】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  <a:spcBef>
                <a:spcPts val="5"/>
              </a:spcBef>
            </a:pPr>
            <a:r>
              <a:rPr sz="2000" b="1" kern="0" spc="-1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销售提升及成本优化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6" name="textbox 426"/>
          <p:cNvSpPr/>
          <p:nvPr/>
        </p:nvSpPr>
        <p:spPr>
          <a:xfrm>
            <a:off x="416458" y="318033"/>
            <a:ext cx="4059554" cy="3816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2400" b="1" kern="0" spc="20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针对</a:t>
            </a:r>
            <a:r>
              <a:rPr sz="2400" b="1" kern="0" spc="-33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kern="0" spc="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CD</a:t>
            </a:r>
            <a:r>
              <a:rPr sz="2400" b="1" kern="0" spc="-21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kern="0" spc="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LG</a:t>
            </a:r>
            <a:r>
              <a:rPr sz="2400" b="1" kern="0" spc="-27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kern="0" spc="20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门店的改进</a:t>
            </a:r>
            <a:r>
              <a:rPr sz="2400" b="1" kern="0" spc="-38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kern="0" spc="200" dirty="0">
                <a:solidFill>
                  <a:srgbClr val="49989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28" name="picture 4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91668" y="766571"/>
            <a:ext cx="11800331" cy="71628"/>
          </a:xfrm>
          <a:prstGeom prst="rect">
            <a:avLst/>
          </a:prstGeom>
        </p:spPr>
      </p:pic>
      <p:sp>
        <p:nvSpPr>
          <p:cNvPr id="430" name="textbox 430"/>
          <p:cNvSpPr/>
          <p:nvPr/>
        </p:nvSpPr>
        <p:spPr>
          <a:xfrm>
            <a:off x="11867514" y="6617461"/>
            <a:ext cx="173354" cy="1600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3000"/>
              </a:lnSpc>
            </a:pPr>
            <a:r>
              <a:rPr sz="1200" kern="0" spc="-30" dirty="0">
                <a:solidFill>
                  <a:srgbClr val="89898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39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rect 432"/>
          <p:cNvSpPr/>
          <p:nvPr/>
        </p:nvSpPr>
        <p:spPr>
          <a:xfrm>
            <a:off x="0" y="0"/>
            <a:ext cx="12192000" cy="6857998"/>
          </a:xfrm>
          <a:prstGeom prst="rect">
            <a:avLst/>
          </a:prstGeom>
          <a:solidFill>
            <a:srgbClr val="22464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34" name="textbox 434"/>
          <p:cNvSpPr/>
          <p:nvPr/>
        </p:nvSpPr>
        <p:spPr>
          <a:xfrm>
            <a:off x="5450763" y="3340963"/>
            <a:ext cx="1229360" cy="2311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5000"/>
              </a:lnSpc>
            </a:pPr>
            <a:r>
              <a:rPr sz="1800" b="1" kern="0" spc="-80" dirty="0">
                <a:solidFill>
                  <a:srgbClr val="C5E0B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T</a:t>
            </a:r>
            <a:r>
              <a:rPr sz="1800" b="1" kern="0" spc="210" dirty="0">
                <a:solidFill>
                  <a:srgbClr val="C5E0B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800" b="1" kern="0" spc="-80" dirty="0">
                <a:solidFill>
                  <a:srgbClr val="C5E0B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H A</a:t>
            </a:r>
            <a:r>
              <a:rPr sz="1800" b="1" kern="0" spc="160" dirty="0">
                <a:solidFill>
                  <a:srgbClr val="C5E0B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800" b="1" kern="0" spc="-80" dirty="0">
                <a:solidFill>
                  <a:srgbClr val="C5E0B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N</a:t>
            </a:r>
            <a:r>
              <a:rPr sz="1800" b="1" kern="0" spc="160" dirty="0">
                <a:solidFill>
                  <a:srgbClr val="C5E0B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800" b="1" kern="0" spc="-80" dirty="0">
                <a:solidFill>
                  <a:srgbClr val="C5E0B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K</a:t>
            </a:r>
            <a:r>
              <a:rPr sz="1800" b="1" kern="0" spc="40" dirty="0">
                <a:solidFill>
                  <a:srgbClr val="C5E0B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800" b="1" kern="0" spc="-80" dirty="0">
                <a:solidFill>
                  <a:srgbClr val="C5E0B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S</a:t>
            </a:r>
            <a:endParaRPr sz="18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7954c129-0227-4096-800b-384a24dcf277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1103</Words>
  <Application>Microsoft Office PowerPoint</Application>
  <PresentationFormat>宽屏</PresentationFormat>
  <Paragraphs>576</Paragraphs>
  <Slides>37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2" baseType="lpstr">
      <vt:lpstr>等线</vt:lpstr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AutoBVT</dc:creator>
  <cp:lastModifiedBy>召才 胡</cp:lastModifiedBy>
  <cp:revision>2</cp:revision>
  <dcterms:created xsi:type="dcterms:W3CDTF">2024-12-23T06:45:53Z</dcterms:created>
  <dcterms:modified xsi:type="dcterms:W3CDTF">2026-06-29T04:06:15Z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wqlLaW5nc29mdCBQREYgdG8gV1BTIDEwMA</vt:lpwstr>
  </property>
  <property fmtid="{D5CDD505-2E9C-101B-9397-08002B2CF9AE}" pid="3" name="Created">
    <vt:filetime>2024-12-23T14:44:51Z</vt:filetime>
  </property>
  <property fmtid="{D5CDD505-2E9C-101B-9397-08002B2CF9AE}" pid="4" name="ICV">
    <vt:lpwstr>F1A90EE161694854BBC31548C9FB97C1</vt:lpwstr>
  </property>
  <property fmtid="{D5CDD505-2E9C-101B-9397-08002B2CF9AE}" pid="5" name="KSOProductBuildVer">
    <vt:lpwstr>2052-11.1.0.12165</vt:lpwstr>
  </property>
</Properties>
</file>